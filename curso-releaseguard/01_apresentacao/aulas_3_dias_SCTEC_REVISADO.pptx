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notesMasterIdLst>
    <p:notesMasterId r:id="rId8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01</a:t>
            </a:r>
          </a:p>
          <a:p/>
          <a:p>
            <a:r>
              <a:t>## Slide 01 — RELEASEGUARD AI: QA FUNCIONAL LOW-CODE</a:t>
            </a:r>
          </a:p>
          <a:p/>
          <a:p>
            <a:r>
              <a:t>**Onde estamos — Dia 1.** Abra a semana com a tese de que low-code não significa ausência de engenharia. Apresente ReleaseGuard como um mesmo sistema que será observado por três lentes: QA funcional, visual e SRE.</a:t>
            </a:r>
          </a:p>
          <a:p/>
          <a:p>
            <a:r>
              <a:t>**Objetivo cognitivo.** Ao final do slide, a turma deve conseguir explicar a decisão técnica associada a **releaseguard ai: qa funcional low-code** sem recorrer a definições genéricas de agentes.</a:t>
            </a:r>
          </a:p>
          <a:p/>
          <a:p>
            <a:r>
              <a:t>**Como conduzir / o que apontar.** Mostre a progressão dos três dias e deixe explícito que os alunos já conhecem agentes; aqui o foco é produção.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Não gaste tempo definindo LLM/agente.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parte do trabalho de QA/SRE vocês gostariam de automatizar sem perder controle?</a:t>
            </a:r>
          </a:p>
          <a:p/>
          <a:p>
            <a:r>
              <a:t>**Gancho concreto.** O próximo slide mostra por que simplesmente gerar testes não basta.</a:t>
            </a:r>
          </a:p>
          <a:p/>
          <a:p>
            <a:r>
              <a:t>**Ritmo.** rápido/normal.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02</a:t>
            </a:r>
          </a:p>
          <a:p/>
          <a:p>
            <a:r>
              <a:t>## Slide 02 — O PROBLEMA: TESTE GERADO NÃO É TESTE CONFIÁVEL</a:t>
            </a:r>
          </a:p>
          <a:p/>
          <a:p>
            <a:r>
              <a:t>**Onde estamos — Dia 1.** Comece pelo risco: um LLM pode produzir um teste sintaticamente elegante que verifica a coisa errada. A confiança vem da separação entre proposta probabilística e execução/oracle determinísticos.</a:t>
            </a:r>
          </a:p>
          <a:p/>
          <a:p>
            <a:r>
              <a:t>**Objetivo cognitivo.** Ao final do slide, a turma deve conseguir explicar a decisão técnica associada a **o problema: teste gerado não é teste confiável** sem recorrer a definições genéricas de agentes.</a:t>
            </a:r>
          </a:p>
          <a:p/>
          <a:p>
            <a:r>
              <a:t>**Como conduzir / o que apontar.** Aponte as três linhas do slide: LLM propõe, código valida/executa, oracle continua de engenharia.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Structured output resolve forma, não significado.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Um teste que sempre passa pode ser pior que nenhum teste?</a:t>
            </a:r>
          </a:p>
          <a:p/>
          <a:p>
            <a:r>
              <a:t>**Gancho concreto.** Vamos materializar isso no sistema central e nas evidências que ele produz.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03</a:t>
            </a:r>
          </a:p>
          <a:p/>
          <a:p>
            <a:r>
              <a:t>## Slide 03 — SISTEMA CENTRAL E EVIDÊNCIAS</a:t>
            </a:r>
          </a:p>
          <a:p/>
          <a:p>
            <a:r>
              <a:t>**Onde estamos — Dia 1.** Apresente a arquitetura do ReleaseGuard como ambiente comum. Mostre que API, UI, artefatos e observabilidade pertencem ao mesmo sistema, evitando exercícios desconectados.</a:t>
            </a:r>
          </a:p>
          <a:p/>
          <a:p>
            <a:r>
              <a:t>**Objetivo cognitivo.** Ao final do slide, a turma deve conseguir explicar a decisão técnica associada a **sistema central e evidências** sem recorrer a definições genéricas de agentes.</a:t>
            </a:r>
          </a:p>
          <a:p/>
          <a:p>
            <a:r>
              <a:t>**Como conduzir / o que apontar.** Aponte FastAPI, Ollama, n8n, Playwright, Prometheus e Jaeger como papéis, não como lista de ferramentas.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Ferramenta é substituível; contrato e evidência são conceitos persistentes.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componente do diagrama realmente decide se um teste passou?</a:t>
            </a:r>
          </a:p>
          <a:p/>
          <a:p>
            <a:r>
              <a:t>**Gancho concreto.** Antes de executar, formalizamos o que chamamos de low-code testing.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04</a:t>
            </a:r>
          </a:p>
          <a:p/>
          <a:p>
            <a:r>
              <a:t>## Slide 04 — DEFINIÇÃO CANÔNICA: LOW-CODE TESTING</a:t>
            </a:r>
          </a:p>
          <a:p/>
          <a:p>
            <a:r>
              <a:t>**Onde estamos — Dia 1.** Defina low-code testing como automação em que grande parte da composição do fluxo ocorre por abstrações visuais/configuráveis, preservando integrações e pontos de extensão em código.</a:t>
            </a:r>
          </a:p>
          <a:p/>
          <a:p>
            <a:r>
              <a:t>**Objetivo cognitivo.** Ao final do slide, a turma deve conseguir explicar a decisão técnica associada a **definição canônica: low-code testing** sem recorrer a definições genéricas de agentes.</a:t>
            </a:r>
          </a:p>
          <a:p/>
          <a:p>
            <a:r>
              <a:t>**Como conduzir / o que apontar.** Conecte imediatamente à arquitetura n8n do Dia 1: a UI reduz plumbing, mas policy/executor continuam código.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No-code e low-code são espectros; não há fronteira universal.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Em que momento um workflow low-code deixa de ser seguro se o modelo controla tudo?</a:t>
            </a:r>
          </a:p>
          <a:p/>
          <a:p>
            <a:r>
              <a:t>**Gancho concreto.** Para discutir segurança precisamos definir test case e, principalmente, test oracle.</a:t>
            </a:r>
          </a:p>
          <a:p/>
          <a:p>
            <a:r>
              <a:t>**Ritmo.** 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05</a:t>
            </a:r>
          </a:p>
          <a:p/>
          <a:p>
            <a:r>
              <a:t>## Slide 05 — DEFINIÇÃO CANÔNICA: TEST CASE E TEST ORACLE</a:t>
            </a:r>
          </a:p>
          <a:p/>
          <a:p>
            <a:r>
              <a:t>**Onde estamos — Dia 1.** Defina test case como conjunto de precondições, entradas/ações e resultados esperados; test oracle como mecanismo que decide se o comportamento observado está correto.</a:t>
            </a:r>
          </a:p>
          <a:p/>
          <a:p>
            <a:r>
              <a:t>**Objetivo cognitivo.** Ao final do slide, a turma deve conseguir explicar a decisão técnica associada a **definição canônica: test case e test oracle** sem recorrer a definições genéricas de agentes.</a:t>
            </a:r>
          </a:p>
          <a:p/>
          <a:p>
            <a:r>
              <a:t>**Como conduzir / o que apontar.** Use o 409 de estoque como oracle concreto. O LLM pode propor o caso, mas o 409 vem do contrato/regra.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Oracles podem ser explícitos, parciais ou difíceis de obter; visual QA é um exemplo de oracle menos trivial.</a:t>
            </a:r>
          </a:p>
          <a:p/>
          <a:p>
            <a:r>
              <a:t>**Erro conceitual comum.** Tratar o LLM como fonte do oracle.</a:t>
            </a:r>
          </a:p>
          <a:p/>
          <a:p>
            <a:r>
              <a:t>**Pergunta de checagem.** De onde vem o 'esperado' de um teste gerado por IA?</a:t>
            </a:r>
          </a:p>
          <a:p/>
          <a:p>
            <a:r>
              <a:t>**Gancho concreto.** Agora executamos antes de aprofundar: requisito real e dado real.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06</a:t>
            </a:r>
          </a:p>
          <a:p/>
          <a:p>
            <a:r>
              <a:t>## Slide 06 — EXECUTAR ANTES DE TEORIZAR</a:t>
            </a:r>
          </a:p>
          <a:p/>
          <a:p>
            <a:r>
              <a:t>**Onde estamos — Dia 1.** Explique a pedagogia do dia: executar primeiro cria uma anomalia/resultado observável; teoria entra depois para nomear o que os alunos viram.</a:t>
            </a:r>
          </a:p>
          <a:p/>
          <a:p>
            <a:r>
              <a:t>**Objetivo cognitivo.** Ao final do slide, a turma deve conseguir explicar a decisão técnica associada a **executar antes de teorizar** sem recorrer a definições genéricas de agentes.</a:t>
            </a:r>
          </a:p>
          <a:p/>
          <a:p>
            <a:r>
              <a:t>**Como conduzir / o que apontar.** Aponte a ordem visual e diga que o live coding será a fonte dos snippets posteriores.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Essa ordem reduz definições abstratas sem contexto.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conceito só faz sentido depois que vemos o 409 real?</a:t>
            </a:r>
          </a:p>
          <a:p/>
          <a:p>
            <a:r>
              <a:t>**Gancho concreto.** Vamos ao requisito de estoque insuficiente.</a:t>
            </a:r>
          </a:p>
          <a:p/>
          <a:p>
            <a:r>
              <a:t>**Ritmo.** rápido/normal.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07</a:t>
            </a:r>
          </a:p>
          <a:p/>
          <a:p>
            <a:r>
              <a:t>## Slide 07 — O REQUISITO DE ESTOQUE INSUFICIENTE</a:t>
            </a:r>
          </a:p>
          <a:p/>
          <a:p>
            <a:r>
              <a:t>**Onde estamos — Dia 1.** Leia o requisito e consulte o produto real `sku-001` com stock=3. Transforme linguagem de negócio em condição testável.</a:t>
            </a:r>
          </a:p>
          <a:p/>
          <a:p>
            <a:r>
              <a:t>**Objetivo cognitivo.** Ao final do slide, a turma deve conseguir explicar a decisão técnica associada a **o requisito de estoque insuficiente** sem recorrer a definições genéricas de agentes.</a:t>
            </a:r>
          </a:p>
          <a:p/>
          <a:p>
            <a:r>
              <a:t>**Como conduzir / o que apontar.** Aponte que quantity&gt;3 é invalidade observável e que `/cart/{id}/items` documenta 409.</a:t>
            </a:r>
          </a:p>
          <a:p/>
          <a:p>
            <a:r>
              <a:t>**Conexão com o núcleo congelado.** `app/state/store.py + app/api/routes.py`.</a:t>
            </a:r>
          </a:p>
          <a:p/>
          <a:p>
            <a:r>
              <a:t>**Nuance técnica.** Não escolha 409 por convenção genérica; no curso ele é sustentado pela API congelada.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é a menor sequência HTTP para provar a regra?</a:t>
            </a:r>
          </a:p>
          <a:p/>
          <a:p>
            <a:r>
              <a:t>**Gancho concreto.** Precisamos representar essa sequência num contrato compartilhado com LLM e executor.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08</a:t>
            </a:r>
          </a:p>
          <a:p/>
          <a:p>
            <a:r>
              <a:t>## Slide 08 — SCHEMA CANÔNICO DO TESTPLAN</a:t>
            </a:r>
          </a:p>
          <a:p/>
          <a:p>
            <a:r>
              <a:t>**Onde estamos — Dia 1.** Percorra `HttpStep` e `TestPlan` campo por campo. Destaque intent/risk/oracle como informação pedagógica além dos detalhes HTTP.</a:t>
            </a:r>
          </a:p>
          <a:p/>
          <a:p>
            <a:r>
              <a:t>**Objetivo cognitivo.** Ao final do slide, a turma deve conseguir explicar a decisão técnica associada a **schema canônico do testplan** sem recorrer a definições genéricas de agentes.</a:t>
            </a:r>
          </a:p>
          <a:p/>
          <a:p>
            <a:r>
              <a:t>**Como conduzir / o que apontar.** Mostre `Literal` de methods, path regex e limites de steps.</a:t>
            </a:r>
          </a:p>
          <a:p/>
          <a:p>
            <a:r>
              <a:t>**Conexão com o núcleo congelado.** `qa/schemas.py`.</a:t>
            </a:r>
          </a:p>
          <a:p/>
          <a:p>
            <a:r>
              <a:t>**Nuance técnica.** Pydantic valida estrutura; não garante endpoint/status semanticamente corretos.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Um JSON pode validar e ainda ser inexequível?</a:t>
            </a:r>
          </a:p>
          <a:p/>
          <a:p>
            <a:r>
              <a:t>**Gancho concreto.** É por isso que Pydantic vem antes do HTTP, mas não é a única validação.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09</a:t>
            </a:r>
          </a:p>
          <a:p/>
          <a:p>
            <a:r>
              <a:t>## Slide 09 — POR QUE PYDANTIC ENTRA ANTES DO HTTP</a:t>
            </a:r>
          </a:p>
          <a:p/>
          <a:p>
            <a:r>
              <a:t>**Onde estamos — Dia 1.** Explique Pydantic como fronteira de contrato entre componente probabilístico e software determinístico.</a:t>
            </a:r>
          </a:p>
          <a:p/>
          <a:p>
            <a:r>
              <a:t>**Objetivo cognitivo.** Ao final do slide, a turma deve conseguir explicar a decisão técnica associada a **por que pydantic entra antes do http** sem recorrer a definições genéricas de agentes.</a:t>
            </a:r>
          </a:p>
          <a:p/>
          <a:p>
            <a:r>
              <a:t>**Como conduzir / o que apontar.** Mostre exemplos de falha: method fora do enum, status inválido, steps vazio.</a:t>
            </a:r>
          </a:p>
          <a:p/>
          <a:p>
            <a:r>
              <a:t>**Conexão com o núcleo congelado.** `qa/schemas.py`.</a:t>
            </a:r>
          </a:p>
          <a:p/>
          <a:p>
            <a:r>
              <a:t>**Nuance técnica.** Structured output e Pydantic são complementares: um orienta geração, outro rejeita o que viola schema.</a:t>
            </a:r>
          </a:p>
          <a:p/>
          <a:p>
            <a:r>
              <a:t>**Erro conceitual comum.** Achar que schema válido implica semântica válida.</a:t>
            </a:r>
          </a:p>
          <a:p/>
          <a:p>
            <a:r>
              <a:t>**Pergunta de checagem.** Se o JSON está certo, o endpoint necessariamente existe?</a:t>
            </a:r>
          </a:p>
          <a:p/>
          <a:p>
            <a:r>
              <a:t>**Gancho concreto.** Agora adicionamos policy para impor autorização e escopo.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10</a:t>
            </a:r>
          </a:p>
          <a:p/>
          <a:p>
            <a:r>
              <a:t>## Slide 10 — POLÍTICA DE MÉTODO E PATH</a:t>
            </a:r>
          </a:p>
          <a:p/>
          <a:p>
            <a:r>
              <a:t>**Onde estamos — Dia 1.** Abra `qa/policy.py`. Explique allowlist de host, métodos GET/POST e prefixes permitidos.</a:t>
            </a:r>
          </a:p>
          <a:p/>
          <a:p>
            <a:r>
              <a:t>**Objetivo cognitivo.** Ao final do slide, a turma deve conseguir explicar a decisão técnica associada a **política de método e path** sem recorrer a definições genéricas de agentes.</a:t>
            </a:r>
          </a:p>
          <a:p/>
          <a:p>
            <a:r>
              <a:t>**Como conduzir / o que apontar.** Aponte que DELETE é bloqueado mesmo se o LLM o pedir corretamente.</a:t>
            </a:r>
          </a:p>
          <a:p/>
          <a:p>
            <a:r>
              <a:t>**Conexão com o núcleo congelado.** `qa/policy.py`.</a:t>
            </a:r>
          </a:p>
          <a:p/>
          <a:p>
            <a:r>
              <a:t>**Nuance técnica.** Prompt nunca deve ser a única barreira para ação sensível.</a:t>
            </a:r>
          </a:p>
          <a:p/>
          <a:p>
            <a:r>
              <a:t>**Erro conceitual comum.** Usar prompt como única autorização.</a:t>
            </a:r>
          </a:p>
          <a:p/>
          <a:p>
            <a:r>
              <a:t>**Pergunta de checagem.** Por que não escrever apenas 'não use DELETE' no system prompt?</a:t>
            </a:r>
          </a:p>
          <a:p/>
          <a:p>
            <a:r>
              <a:t>**Gancho concreto.** Com plano válido e autorizado, precisamos realmente executar HTTP.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11</a:t>
            </a:r>
          </a:p>
          <a:p/>
          <a:p>
            <a:r>
              <a:t>## Slide 11 — EXECUTOR HTTP REAL</a:t>
            </a:r>
          </a:p>
          <a:p/>
          <a:p>
            <a:r>
              <a:t>**Onde estamos — Dia 1.** Mostre `run_plan`: resolve placeholders, chama httpx, captura response e compara status.</a:t>
            </a:r>
          </a:p>
          <a:p/>
          <a:p>
            <a:r>
              <a:t>**Objetivo cognitivo.** Ao final do slide, a turma deve conseguir explicar a decisão técnica associada a **executor http real** sem recorrer a definições genéricas de agentes.</a:t>
            </a:r>
          </a:p>
          <a:p/>
          <a:p>
            <a:r>
              <a:t>**Como conduzir / o que apontar.** Aponte `timeout=3.0`, `cart_id`/`order_id` no context e `passed = status==expected`.</a:t>
            </a:r>
          </a:p>
          <a:p/>
          <a:p>
            <a:r>
              <a:t>**Conexão com o núcleo congelado.** `qa/executor.py`.</a:t>
            </a:r>
          </a:p>
          <a:p/>
          <a:p>
            <a:r>
              <a:t>**Nuance técnica.** Executor é deliberadamente simples: menos espaço para comportamento implícito.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Onde acontece a decisão de PASS de cada step?</a:t>
            </a:r>
          </a:p>
          <a:p/>
          <a:p>
            <a:r>
              <a:t>**Gancho concreto.** Agora vamos ver o report real 200→409.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12</a:t>
            </a:r>
          </a:p>
          <a:p/>
          <a:p>
            <a:r>
              <a:t>## Slide 12 — DEMONSTRAÇÃO: 200 DEPOIS 409</a:t>
            </a:r>
          </a:p>
          <a:p/>
          <a:p>
            <a:r>
              <a:t>**Onde estamos — Dia 1.** Mostre `functional_report.json` validado. Leia somente os campos que importam: status, expected_status e passed.</a:t>
            </a:r>
          </a:p>
          <a:p/>
          <a:p>
            <a:r>
              <a:t>**Objetivo cognitivo.** Ao final do slide, a turma deve conseguir explicar a decisão técnica associada a **demonstração: 200 depois 409** sem recorrer a definições genéricas de agentes.</a:t>
            </a:r>
          </a:p>
          <a:p/>
          <a:p>
            <a:r>
              <a:t>**Como conduzir / o que apontar.** Destaque que `cart-003` é dinâmico; o valor pode mudar sem alterar o teste.</a:t>
            </a:r>
          </a:p>
          <a:p/>
          <a:p>
            <a:r>
              <a:t>**Conexão com o núcleo congelado.** `artifacts/day1/functional_report.json`.</a:t>
            </a:r>
          </a:p>
          <a:p/>
          <a:p>
            <a:r>
              <a:t>**Nuance técnica.** Evidence artifact persistido é útil para slides, CI e release gate.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Por que salvar o report se já vimos o terminal?</a:t>
            </a:r>
          </a:p>
          <a:p/>
          <a:p>
            <a:r>
              <a:t>**Gancho concreto.** Com execução confiável estabelecida, podemos decidir qual parte entregar à IA.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13</a:t>
            </a:r>
          </a:p>
          <a:p/>
          <a:p>
            <a:r>
              <a:t>## Slide 13 — O QUE A IA PODE GERAR</a:t>
            </a:r>
          </a:p>
          <a:p/>
          <a:p>
            <a:r>
              <a:t>**Onde estamos — Dia 1.** Liste o que o LLM pode propor com segurança relativa: decomposição em steps, seleção dentro do contrato, valores contextuais e descrição de intent/risk.</a:t>
            </a:r>
          </a:p>
          <a:p/>
          <a:p>
            <a:r>
              <a:t>**Objetivo cognitivo.** Ao final do slide, a turma deve conseguir explicar a decisão técnica associada a **o que a ia pode gerar** sem recorrer a definições genéricas de agentes.</a:t>
            </a:r>
          </a:p>
          <a:p/>
          <a:p>
            <a:r>
              <a:t>**Como conduzir / o que apontar.** Conecte ao TestPlan, não a texto livre.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Quanto mais aberta a capacidade, maior o custo de validação.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campo do TestPlan vocês deixariam o modelo gerar com menos controle?</a:t>
            </a:r>
          </a:p>
          <a:p/>
          <a:p>
            <a:r>
              <a:t>**Gancho concreto.** O próximo slide marca a fronteira: o que não delegamos.</a:t>
            </a:r>
          </a:p>
          <a:p/>
          <a:p>
            <a:r>
              <a:t>**Ritmo.** rápido/normal.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14</a:t>
            </a:r>
          </a:p>
          <a:p/>
          <a:p>
            <a:r>
              <a:t>## Slide 14 — O QUE A IA NÃO DEVE DECIDIR</a:t>
            </a:r>
          </a:p>
          <a:p/>
          <a:p>
            <a:r>
              <a:t>**Onde estamos — Dia 1.** Enfatize: host allowlist, métodos permitidos, execução, status real e release policy não pertencem ao LLM.</a:t>
            </a:r>
          </a:p>
          <a:p/>
          <a:p>
            <a:r>
              <a:t>**Objetivo cognitivo.** Ao final do slide, a turma deve conseguir explicar a decisão técnica associada a **o que a ia não deve decidir** sem recorrer a definições genéricas de agentes.</a:t>
            </a:r>
          </a:p>
          <a:p/>
          <a:p>
            <a:r>
              <a:t>**Como conduzir / o que apontar.** Use a expressão 'espaço seguro de decisão'.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A IA pode recomendar um oracle, mas a aplicação deve fundamentá-lo em requisito/contrato.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falha seria possível se o LLM definisse também o próprio critério de sucesso?</a:t>
            </a:r>
          </a:p>
          <a:p/>
          <a:p>
            <a:r>
              <a:t>**Gancho concreto.** Agora vemos como structured output restringe a proposta do modelo.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15</a:t>
            </a:r>
          </a:p>
          <a:p/>
          <a:p>
            <a:r>
              <a:t>## Slide 15 — OLLAMA STRUCTURED OUTPUT</a:t>
            </a:r>
          </a:p>
          <a:p/>
          <a:p>
            <a:r>
              <a:t>**Onde estamos — Dia 1.** Explique Ollama structured output usando `format=TestPlan.model_json_schema()` e temperature 0.</a:t>
            </a:r>
          </a:p>
          <a:p/>
          <a:p>
            <a:r>
              <a:t>**Objetivo cognitivo.** Ao final do slide, a turma deve conseguir explicar a decisão técnica associada a **ollama structured output** sem recorrer a definições genéricas de agentes.</a:t>
            </a:r>
          </a:p>
          <a:p/>
          <a:p>
            <a:r>
              <a:t>**Como conduzir / o que apontar.** Aponte que o schema precisa ser compatível com o runtime; o regex foi ajustado após erro 400 real.</a:t>
            </a:r>
          </a:p>
          <a:p/>
          <a:p>
            <a:r>
              <a:t>**Conexão com o núcleo congelado.** `qa/generate_plan.py`.</a:t>
            </a:r>
          </a:p>
          <a:p/>
          <a:p>
            <a:r>
              <a:t>**Nuance técnica.** Deterministic decoding não torna raciocínio semanticamente correto.</a:t>
            </a:r>
          </a:p>
          <a:p/>
          <a:p>
            <a:r>
              <a:t>**Erro conceitual comum.** Achar que temperature 0 torna saída correta.</a:t>
            </a:r>
          </a:p>
          <a:p/>
          <a:p>
            <a:r>
              <a:t>**Pergunta de checagem.** Temperature 0 elimina a necessidade de validação?</a:t>
            </a:r>
          </a:p>
          <a:p/>
          <a:p>
            <a:r>
              <a:t>**Gancho concreto.** Vamos ver o prompt com OpenAPI e fixtures reais.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16</a:t>
            </a:r>
          </a:p>
          <a:p/>
          <a:p>
            <a:r>
              <a:t>## Slide 16 — PROMPT COM OPENAPI E PRODUTOS REAIS</a:t>
            </a:r>
          </a:p>
          <a:p/>
          <a:p>
            <a:r>
              <a:t>**Onde estamos — Dia 1.** Mostre que o prompt contém requirement, runtime context de products, OpenAPI e JSON Schema.</a:t>
            </a:r>
          </a:p>
          <a:p/>
          <a:p>
            <a:r>
              <a:t>**Objetivo cognitivo.** Ao final do slide, a turma deve conseguir explicar a decisão técnica associada a **prompt com openapi e produtos reais** sem recorrer a definições genéricas de agentes.</a:t>
            </a:r>
          </a:p>
          <a:p/>
          <a:p>
            <a:r>
              <a:t>**Como conduzir / o que apontar.** Explique por que contexto de execução reduz IDs/quantidades inventados.</a:t>
            </a:r>
          </a:p>
          <a:p/>
          <a:p>
            <a:r>
              <a:t>**Conexão com o núcleo congelado.** `qa/generate_plan.py`.</a:t>
            </a:r>
          </a:p>
          <a:p/>
          <a:p>
            <a:r>
              <a:t>**Nuance técnica.** Truncar OpenAPI em 24k chars é uma decisão pragmática do laboratório, não padrão universal.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dado faltava quando o modelo gerava planos semanticamente ruins?</a:t>
            </a:r>
          </a:p>
          <a:p/>
          <a:p>
            <a:r>
              <a:t>**Gancho concreto.** Mesmo assim, ainda precisamos validar semântica e corrigir de forma limitada.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17</a:t>
            </a:r>
          </a:p>
          <a:p/>
          <a:p>
            <a:r>
              <a:t>## Slide 17 — CORREÇÃO LIMITADA E VALIDAÇÃO SEMÂNTICA</a:t>
            </a:r>
          </a:p>
          <a:p/>
          <a:p>
            <a:r>
              <a:t>**Onde estamos — Dia 1.** Percorra `_semantic_issues`: endpoint/method, status documentado, body obrigatório e placeholders disponíveis. Depois mostre as três tentativas bounded.</a:t>
            </a:r>
          </a:p>
          <a:p/>
          <a:p>
            <a:r>
              <a:t>**Objetivo cognitivo.** Ao final do slide, a turma deve conseguir explicar a decisão técnica associada a **correção limitada e validação semântica** sem recorrer a definições genéricas de agentes.</a:t>
            </a:r>
          </a:p>
          <a:p/>
          <a:p>
            <a:r>
              <a:t>**Como conduzir / o que apontar.** Conte que o núcleo realmente precisou dessa camada após gerar plano schema-valid porém errado.</a:t>
            </a:r>
          </a:p>
          <a:p/>
          <a:p>
            <a:r>
              <a:t>**Conexão com o núcleo congelado.** `qa/generate_plan.py`.</a:t>
            </a:r>
          </a:p>
          <a:p/>
          <a:p>
            <a:r>
              <a:t>**Nuance técnica.** Self-correction deve receber erro verificável, não feedback vago.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Quando vocês parariam de pedir correção ao modelo?</a:t>
            </a:r>
          </a:p>
          <a:p/>
          <a:p>
            <a:r>
              <a:t>**Gancho concreto.** A mesma arquitetura será agora representada visualmente no n8n.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18</a:t>
            </a:r>
          </a:p>
          <a:p/>
          <a:p>
            <a:r>
              <a:t>## Slide 18 — LOW-CODE NO N8N</a:t>
            </a:r>
          </a:p>
          <a:p/>
          <a:p>
            <a:r>
              <a:t>**Onde estamos — Dia 1.** Apresente n8n como camada de orquestração visual sobre componentes reais. Não trate o canvas como substituto das políticas.</a:t>
            </a:r>
          </a:p>
          <a:p/>
          <a:p>
            <a:r>
              <a:t>**Objetivo cognitivo.** Ao final do slide, a turma deve conseguir explicar a decisão técnica associada a **low-code no n8n** sem recorrer a definições genéricas de agentes.</a:t>
            </a:r>
          </a:p>
          <a:p/>
          <a:p>
            <a:r>
              <a:t>**Como conduzir / o que apontar.** Aponte host.docker.internal como detalhe de integração real.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Low-code aumenta visibilidade para alguns públicos, mas também cria configuração como código a governar.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parte do fluxo fica mais fácil de inspecionar no n8n?</a:t>
            </a:r>
          </a:p>
          <a:p/>
          <a:p>
            <a:r>
              <a:t>**Gancho concreto.** Precisamos escolher o node de IA certo: chain ou agent?</a:t>
            </a:r>
          </a:p>
          <a:p/>
          <a:p>
            <a:r>
              <a:t>**Ritmo.** 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19</a:t>
            </a:r>
          </a:p>
          <a:p/>
          <a:p>
            <a:r>
              <a:t>## Slide 19 — BASIC LLM CHAIN, NÃO AI AGENT</a:t>
            </a:r>
          </a:p>
          <a:p/>
          <a:p>
            <a:r>
              <a:t>**Onde estamos — Dia 1.** Defenda Basic LLM Chain: a tarefa é mapping contexto→estrutura, não seleção autônoma de ferramentas.</a:t>
            </a:r>
          </a:p>
          <a:p/>
          <a:p>
            <a:r>
              <a:t>**Objetivo cognitivo.** Ao final do slide, a turma deve conseguir explicar a decisão técnica associada a **basic llm chain, não ai agent** sem recorrer a definições genéricas de agentes.</a:t>
            </a:r>
          </a:p>
          <a:p/>
          <a:p>
            <a:r>
              <a:t>**Como conduzir / o que apontar.** Compare com AI Agent: agent faria sentido quando modelo precisa escolher tools iterativamente, como no Dia 3.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Escolher 'agent' por moda aumenta complexidade desnecessária.</a:t>
            </a:r>
          </a:p>
          <a:p/>
          <a:p>
            <a:r>
              <a:t>**Erro conceitual comum.** Usar AI Agent para qualquer node com LLM.</a:t>
            </a:r>
          </a:p>
          <a:p/>
          <a:p>
            <a:r>
              <a:t>**Pergunta de checagem.** Que propriedade do problema faria vocês trocarem Chain por Agent?</a:t>
            </a:r>
          </a:p>
          <a:p/>
          <a:p>
            <a:r>
              <a:t>**Gancho concreto.** Vamos olhar o workflow efetivamente validado.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20</a:t>
            </a:r>
          </a:p>
          <a:p/>
          <a:p>
            <a:r>
              <a:t>## Slide 20 — WORKFLOW N8N VALIDADO</a:t>
            </a:r>
          </a:p>
          <a:p/>
          <a:p>
            <a:r>
              <a:t>**Onde estamos — Dia 1.** Percorra o canvas: Requirement→OpenAPI→Product→Chain+Model+Parser→Validation→Execute Plan→Report.</a:t>
            </a:r>
          </a:p>
          <a:p/>
          <a:p>
            <a:r>
              <a:t>**Objetivo cognitivo.** Ao final do slide, a turma deve conseguir explicar a decisão técnica associada a **workflow n8n validado** sem recorrer a definições genéricas de agentes.</a:t>
            </a:r>
          </a:p>
          <a:p/>
          <a:p>
            <a:r>
              <a:t>**Como conduzir / o que apontar.** Mostre que model também conecta ao parser para auto-fix.</a:t>
            </a:r>
          </a:p>
          <a:p/>
          <a:p>
            <a:r>
              <a:t>**Conexão com o núcleo congelado.** `n8n/qa_test_generator.json`.</a:t>
            </a:r>
          </a:p>
          <a:p/>
          <a:p>
            <a:r>
              <a:t>**Nuance técnica.** O JSON do workflow é artefato versionável e importável; o ID foi necessário para compatibilidade do n8n validado.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node é a principal fronteira determinística no canvas?</a:t>
            </a:r>
          </a:p>
          <a:p/>
          <a:p>
            <a:r>
              <a:t>**Gancho concreto.** Agora mostramos onde observar cada resultado durante a aula.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21</a:t>
            </a:r>
          </a:p>
          <a:p/>
          <a:p>
            <a:r>
              <a:t>## Slide 21 — ONDE OBSERVAR CADA NODE</a:t>
            </a:r>
          </a:p>
          <a:p/>
          <a:p>
            <a:r>
              <a:t>**Onde estamos — Dia 1.** Oriente a inspeção de execution data node a node. Mostre que o output do parser vem em `$json.output` e Validation desembrulha o plano.</a:t>
            </a:r>
          </a:p>
          <a:p/>
          <a:p>
            <a:r>
              <a:t>**Objetivo cognitivo.** Ao final do slide, a turma deve conseguir explicar a decisão técnica associada a **onde observar cada node** sem recorrer a definições genéricas de agentes.</a:t>
            </a:r>
          </a:p>
          <a:p/>
          <a:p>
            <a:r>
              <a:t>**Como conduzir / o que apontar.** Aponte final 200/409 no Report.</a:t>
            </a:r>
          </a:p>
          <a:p/>
          <a:p>
            <a:r>
              <a:t>**Conexão com o núcleo congelado.** `n8n execution data`.</a:t>
            </a:r>
          </a:p>
          <a:p/>
          <a:p>
            <a:r>
              <a:t>**Nuance técnica.** Debug low-code exige saber inspecionar dados, não só olhar nodes verdes.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Se Execute Plan retorna 422, qual node você inspeciona primeiro?</a:t>
            </a:r>
          </a:p>
          <a:p/>
          <a:p>
            <a:r>
              <a:t>**Gancho concreto.** Com a pipeline funcionando, discutimos self-healing e seus riscos.</a:t>
            </a:r>
          </a:p>
          <a:p/>
          <a:p>
            <a:r>
              <a:t>**Ritmo.** rápido/normal.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22</a:t>
            </a:r>
          </a:p>
          <a:p/>
          <a:p>
            <a:r>
              <a:t>## Slide 22 — SELF-HEALING: ÚTIL OU PERIGOSO?</a:t>
            </a:r>
          </a:p>
          <a:p/>
          <a:p>
            <a:r>
              <a:t>**Onde estamos — Dia 1.** Defina self-healing como adaptação automática para preservar intenção do teste diante de mudanças. Separe locator repair de alterar oracle/comportamento.</a:t>
            </a:r>
          </a:p>
          <a:p/>
          <a:p>
            <a:r>
              <a:t>**Objetivo cognitivo.** Ao final do slide, a turma deve conseguir explicar a decisão técnica associada a **self-healing: útil ou perigoso?** sem recorrer a definições genéricas de agentes.</a:t>
            </a:r>
          </a:p>
          <a:p/>
          <a:p>
            <a:r>
              <a:t>**Como conduzir / o que apontar.** Use a regra: corrigir representação pode ser aceitável; transformar regressão em PASS é perigoso.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O caso mabl discutido na pesquisa mostra que runtime recovery agentic não é automaticamente uma vitória.</a:t>
            </a:r>
          </a:p>
          <a:p/>
          <a:p>
            <a:r>
              <a:t>**Erro conceitual comum.** Deixar self-healing alterar o comportamento esperado.</a:t>
            </a:r>
          </a:p>
          <a:p/>
          <a:p>
            <a:r>
              <a:t>**Pergunta de checagem.** Quando self-healing mascara um bug?</a:t>
            </a:r>
          </a:p>
          <a:p/>
          <a:p>
            <a:r>
              <a:t>**Gancho concreto.** Vamos catalogar failure modes do Dia 1.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23</a:t>
            </a:r>
          </a:p>
          <a:p/>
          <a:p>
            <a:r>
              <a:t>## Slide 23 — FAILURE MODES DO DIA 1</a:t>
            </a:r>
          </a:p>
          <a:p/>
          <a:p>
            <a:r>
              <a:t>**Onde estamos — Dia 1.** Percorra falhas relevantes: endpoint inventado, oracle errado, body faltante, fixture inexistente, policy bypass, parser wrapper, retries infinitos.</a:t>
            </a:r>
          </a:p>
          <a:p/>
          <a:p>
            <a:r>
              <a:t>**Objetivo cognitivo.** Ao final do slide, a turma deve conseguir explicar a decisão técnica associada a **failure modes do dia 1** sem recorrer a definições genéricas de agentes.</a:t>
            </a:r>
          </a:p>
          <a:p/>
          <a:p>
            <a:r>
              <a:t>**Como conduzir / o que apontar.** Associe cada failure mode a um controle do núcleo.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A melhor arquitetura não elimina falha; torna-a observável e bounded.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falha o schema sozinho não detecta?</a:t>
            </a:r>
          </a:p>
          <a:p/>
          <a:p>
            <a:r>
              <a:t>**Gancho concreto.** Agora comparemos três modos de construir a mesma automação.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24</a:t>
            </a:r>
          </a:p>
          <a:p/>
          <a:p>
            <a:r>
              <a:t>## Slide 24 — COMPARAÇÃO: CÓDIGO, LOW-CODE E AGENTE</a:t>
            </a:r>
          </a:p>
          <a:p/>
          <a:p>
            <a:r>
              <a:t>**Onde estamos — Dia 1.** Compare código puro, low-code e agente pelas dimensões: controle, flexibilidade, auditabilidade, manutenção e autonomia.</a:t>
            </a:r>
          </a:p>
          <a:p/>
          <a:p>
            <a:r>
              <a:t>**Objetivo cognitivo.** Ao final do slide, a turma deve conseguir explicar a decisão técnica associada a **comparação: código, low-code e agente** sem recorrer a definições genéricas de agentes.</a:t>
            </a:r>
          </a:p>
          <a:p/>
          <a:p>
            <a:r>
              <a:t>**Como conduzir / o que apontar.** Evite ranking universal. Mostre por que o laboratório usa código + n8n em vez de escolher um só.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Arquitetura híbrida costuma ser mais realista.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abordagem vocês escolheriam para um conjunto fixo de regressões de API?</a:t>
            </a:r>
          </a:p>
          <a:p/>
          <a:p>
            <a:r>
              <a:t>**Gancho concreto.** É hora de os grupos aplicarem as decisões em casos diferentes.</a:t>
            </a:r>
          </a:p>
          <a:p/>
          <a:p>
            <a:r>
              <a:t>**Ritmo.** 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25</a:t>
            </a:r>
          </a:p>
          <a:p/>
          <a:p>
            <a:r>
              <a:t>## Slide 25 — EXERCÍCIO MENTORADO DIA 1</a:t>
            </a:r>
          </a:p>
          <a:p/>
          <a:p>
            <a:r>
              <a:t>**Onde estamos — Dia 1.** Apresente exercício mentorado como transferência: cada grupo recebe risco distinto, não apenas outro número.</a:t>
            </a:r>
          </a:p>
          <a:p/>
          <a:p>
            <a:r>
              <a:t>**Objetivo cognitivo.** Ao final do slide, a turma deve conseguir explicar a decisão técnica associada a **exercício mentorado dia 1** sem recorrer a definições genéricas de agentes.</a:t>
            </a:r>
          </a:p>
          <a:p/>
          <a:p>
            <a:r>
              <a:t>**Como conduzir / o que apontar.** Mostre entregáveis: TestPlan, oracle, HTTP real e evidência.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Reforce arquivos proibidos: não adaptar núcleo para o teste passar.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grupo parece exigir mais estado? Qual mais policy?</a:t>
            </a:r>
          </a:p>
          <a:p/>
          <a:p>
            <a:r>
              <a:t>**Gancho concreto.** Depois da execução, a rubrica avaliará capacidade técnica, não memorização.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26</a:t>
            </a:r>
          </a:p>
          <a:p/>
          <a:p>
            <a:r>
              <a:t>## Slide 26 — CRITÉRIOS DE AVALIAÇÃO</a:t>
            </a:r>
          </a:p>
          <a:p/>
          <a:p>
            <a:r>
              <a:t>**Onde estamos — Dia 1.** Explique rubrica: oracle fundamentado, plano mínimo, HTTP real, estado/placeholders, controles e explicação.</a:t>
            </a:r>
          </a:p>
          <a:p/>
          <a:p>
            <a:r>
              <a:t>**Objetivo cognitivo.** Ao final do slide, a turma deve conseguir explicar a decisão técnica associada a **critérios de avaliação** sem recorrer a definições genéricas de agentes.</a:t>
            </a:r>
          </a:p>
          <a:p/>
          <a:p>
            <a:r>
              <a:t>**Como conduzir / o que apontar.** Aponte que 'funcionou' vale menos que 'sei por que esse oracle é correto'.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Distratores do exercício são decisões arquiteturais reais.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Como vocês provarão que o teste não passou por acidente?</a:t>
            </a:r>
          </a:p>
          <a:p/>
          <a:p>
            <a:r>
              <a:t>**Gancho concreto.** Fechamos o Dia 1 com a fronteira entre geração e verificação.</a:t>
            </a:r>
          </a:p>
          <a:p/>
          <a:p>
            <a:r>
              <a:t>**Ritmo.** rápido/normal.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27</a:t>
            </a:r>
          </a:p>
          <a:p/>
          <a:p>
            <a:r>
              <a:t>## Slide 27 — FECHAMENTO DIA 1</a:t>
            </a:r>
          </a:p>
          <a:p/>
          <a:p>
            <a:r>
              <a:t>**Onde estamos — Dia 1.** Recapitule em uma linha: LLM propõe; schema/policy validam; HTTP mede; oracle decide. Preserve a evidência `functional_report.json` como ponte para complete report.</a:t>
            </a:r>
          </a:p>
          <a:p/>
          <a:p>
            <a:r>
              <a:t>**Objetivo cognitivo.** Ao final do slide, a turma deve conseguir explicar a decisão técnica associada a **fechamento dia 1** sem recorrer a definições genéricas de agentes.</a:t>
            </a:r>
          </a:p>
          <a:p/>
          <a:p>
            <a:r>
              <a:t>**Como conduzir / o que apontar.** Não faça recap de agentes básicos.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Introduza o problema do próximo dia: status HTTP é um oracle simples; UI é muito mais ambígua.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Como escreveriam `assert` para dizer que uma página 'parece correta'?</a:t>
            </a:r>
          </a:p>
          <a:p/>
          <a:p>
            <a:r>
              <a:t>**Gancho concreto.** Essa dificuldade abre o Dia 2: regressão visual.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01_dia1_implementacao.md; 06_guia_n8n_passo_a_passo.md; 01_dia1_exercicio_mentorado.md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28</a:t>
            </a:r>
          </a:p>
          <a:p/>
          <a:p>
            <a:r>
              <a:t>## Slide 28 — DIA 2: REGRESSÃO VISUAL COM VISUAL AI</a:t>
            </a:r>
          </a:p>
          <a:p/>
          <a:p>
            <a:r>
              <a:t>**Onde estamos — Dia 2.** Abra o Dia 2 com a pergunta: 'imagem diferente significa bug?'. Mostre que a aplicação real, não Pillow sintético, será capturada por browser.</a:t>
            </a:r>
          </a:p>
          <a:p/>
          <a:p>
            <a:r>
              <a:t>**Objetivo cognitivo.** Ao final do slide, a turma deve conseguir explicar a decisão técnica associada a **dia 2: regressão visual com visual ai** sem recorrer a definições genéricas de agentes.</a:t>
            </a:r>
          </a:p>
          <a:p/>
          <a:p>
            <a:r>
              <a:t>**Como conduzir / o que apontar.** Apresente baseline→current→diff→VLM como pipeline.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Visual testing precisa controlar ambiente antes de interpretar imagem.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diferenças visuais vocês considerariam aceitáveis?</a:t>
            </a:r>
          </a:p>
          <a:p/>
          <a:p>
            <a:r>
              <a:t>**Gancho concreto.** Primeiro formalizamos por que diferença e bug não são sinônimos.</a:t>
            </a:r>
          </a:p>
          <a:p/>
          <a:p>
            <a:r>
              <a:t>**Ritmo.** rápido/normal.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29</a:t>
            </a:r>
          </a:p>
          <a:p/>
          <a:p>
            <a:r>
              <a:t>## Slide 29 — O PROBLEMA: IMAGEM DIFERENTE ≠ BUG</a:t>
            </a:r>
          </a:p>
          <a:p/>
          <a:p>
            <a:r>
              <a:t>**Onde estamos — Dia 2.** Use exemplos: timestamp, fonte, antialiasing versus CTA desaparecido. Explique false positives e false negatives desde o início.</a:t>
            </a:r>
          </a:p>
          <a:p/>
          <a:p>
            <a:r>
              <a:t>**Objetivo cognitivo.** Ao final do slide, a turma deve conseguir explicar a decisão técnica associada a **o problema: imagem diferente ≠ bug** sem recorrer a definições genéricas de agentes.</a:t>
            </a:r>
          </a:p>
          <a:p/>
          <a:p>
            <a:r>
              <a:t>**Como conduzir / o que apontar.** Aponte browser real + métricas + VLM como camadas diferentes.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Oracle visual é política contextual, não um threshold universal.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Uma mudança de 1% dos pixels pode bloquear release?</a:t>
            </a:r>
          </a:p>
          <a:p/>
          <a:p>
            <a:r>
              <a:t>**Gancho concreto.** Vamos definir visual regression de forma canônica.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30</a:t>
            </a:r>
          </a:p>
          <a:p/>
          <a:p>
            <a:r>
              <a:t>## Slide 30 — DEFINIÇÃO CANÔNICA: VISUAL REGRESSION</a:t>
            </a:r>
          </a:p>
          <a:p/>
          <a:p>
            <a:r>
              <a:t>**Onde estamos — Dia 2.** Defina visual regression testing como comparação automatizada do estado renderizado contra referência para detectar mudanças inesperadas relevantes.</a:t>
            </a:r>
          </a:p>
          <a:p/>
          <a:p>
            <a:r>
              <a:t>**Objetivo cognitivo.** Ao final do slide, a turma deve conseguir explicar a decisão técnica associada a **definição canônica: visual regression** sem recorrer a definições genéricas de agentes.</a:t>
            </a:r>
          </a:p>
          <a:p/>
          <a:p>
            <a:r>
              <a:t>**Como conduzir / o que apontar.** Inclua que baseline precisa ser versionada e contextualizada por viewport/ambiente.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Visual regression é mais amplo que pixel-perfect.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Quem aprova uma nova baseline?</a:t>
            </a:r>
          </a:p>
          <a:p/>
          <a:p>
            <a:r>
              <a:t>**Gancho concreto.** Precisamos nomear baseline, current e diff.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31</a:t>
            </a:r>
          </a:p>
          <a:p/>
          <a:p>
            <a:r>
              <a:t>## Slide 31 — DEFINIÇÃO: BASELINE, CURRENT E DIFF</a:t>
            </a:r>
          </a:p>
          <a:p/>
          <a:p>
            <a:r>
              <a:t>**Onde estamos — Dia 2.** Defina baseline como referência aprovada, current como captura da execução e diff como representação da diferença.</a:t>
            </a:r>
          </a:p>
          <a:p/>
          <a:p>
            <a:r>
              <a:t>**Objetivo cognitivo.** Ao final do slide, a turma deve conseguir explicar a decisão técnica associada a **definição: baseline, current e diff** sem recorrer a definições genéricas de agentes.</a:t>
            </a:r>
          </a:p>
          <a:p/>
          <a:p>
            <a:r>
              <a:t>**Como conduzir / o que apontar.** Explique que baseline não é verdade eterna; é artefato governado.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Current precisa ser comparável no mesmo ambiente.</a:t>
            </a:r>
          </a:p>
          <a:p/>
          <a:p>
            <a:r>
              <a:t>**Erro conceitual comum.** Tratar baseline como verdade permanente.</a:t>
            </a:r>
          </a:p>
          <a:p/>
          <a:p>
            <a:r>
              <a:t>**Pergunta de checagem.** O que acontece se a baseline já contiver o bug?</a:t>
            </a:r>
          </a:p>
          <a:p/>
          <a:p>
            <a:r>
              <a:t>**Gancho concreto.** Agora mostramos a UI real que será fotografada.</a:t>
            </a:r>
          </a:p>
          <a:p/>
          <a:p>
            <a:r>
              <a:t>**Ritmo.** rápido/normal.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32</a:t>
            </a:r>
          </a:p>
          <a:p/>
          <a:p>
            <a:r>
              <a:t>## Slide 32 — UI REAL DO RELEASEGUARD</a:t>
            </a:r>
          </a:p>
          <a:p/>
          <a:p>
            <a:r>
              <a:t>**Onde estamos — Dia 2.** Abra `/store/checkout` e mostre CTA, summary e ambiente. Reforce que é template Jinja da aplicação.</a:t>
            </a:r>
          </a:p>
          <a:p/>
          <a:p>
            <a:r>
              <a:t>**Objetivo cognitivo.** Ao final do slide, a turma deve conseguir explicar a decisão técnica associada a **ui real do releaseguard** sem recorrer a definições genéricas de agentes.</a:t>
            </a:r>
          </a:p>
          <a:p/>
          <a:p>
            <a:r>
              <a:t>**Como conduzir / o que apontar.** Aponte o cenário no CSS que muda margin-left.</a:t>
            </a:r>
          </a:p>
          <a:p/>
          <a:p>
            <a:r>
              <a:t>**Conexão com o núcleo congelado.** `app/web/templates/checkout.html`.</a:t>
            </a:r>
          </a:p>
          <a:p/>
          <a:p>
            <a:r>
              <a:t>**Nuance técnica.** Fault injection controlada não significa screenshot mockado.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elemento da tela é mais crítico para o negócio?</a:t>
            </a:r>
          </a:p>
          <a:p/>
          <a:p>
            <a:r>
              <a:t>**Gancho concreto.** Precisamos de uma câmera determinística: Playwright.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33</a:t>
            </a:r>
          </a:p>
          <a:p/>
          <a:p>
            <a:r>
              <a:t>## Slide 33 — PLAYWRIGHT COMO CÂMERA DETERMINÍSTICA</a:t>
            </a:r>
          </a:p>
          <a:p/>
          <a:p>
            <a:r>
              <a:t>**Onde estamos — Dia 2.** Explique Playwright como controle de browser, viewport e timing. Mostre 1280×800, scale 1, networkidle.</a:t>
            </a:r>
          </a:p>
          <a:p/>
          <a:p>
            <a:r>
              <a:t>**Objetivo cognitivo.** Ao final do slide, a turma deve conseguir explicar a decisão técnica associada a **playwright como câmera determinística** sem recorrer a definições genéricas de agentes.</a:t>
            </a:r>
          </a:p>
          <a:p/>
          <a:p>
            <a:r>
              <a:t>**Como conduzir / o que apontar.** Destaque Chromium gerenciado e o bug anterior de `/usr/bin/chromium` no macOS.</a:t>
            </a:r>
          </a:p>
          <a:p/>
          <a:p>
            <a:r>
              <a:t>**Conexão com o núcleo congelado.** `visual/capture.py`.</a:t>
            </a:r>
          </a:p>
          <a:p/>
          <a:p>
            <a:r>
              <a:t>**Nuance técnica.** Mesmo browser controlado não elimina todo nondeterminism (fonts, GPU, OS).</a:t>
            </a:r>
          </a:p>
          <a:p/>
          <a:p>
            <a:r>
              <a:t>**Erro conceitual comum.** Ignorar diferenças de ambiente/browser.</a:t>
            </a:r>
          </a:p>
          <a:p/>
          <a:p>
            <a:r>
              <a:t>**Pergunta de checagem.** Que variáveis do ambiente podem mudar pixels sem mudar produto?</a:t>
            </a:r>
          </a:p>
          <a:p/>
          <a:p>
            <a:r>
              <a:t>**Gancho concreto.** Vamos capturar baseline saudável.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34</a:t>
            </a:r>
          </a:p>
          <a:p/>
          <a:p>
            <a:r>
              <a:t>## Slide 34 — CAPTURA DE BASELINE</a:t>
            </a:r>
          </a:p>
          <a:p/>
          <a:p>
            <a:r>
              <a:t>**Onde estamos — Dia 2.** Mostre reset do cenário e `baseline.png`. Explique que baseline é produzida pela mesma aplicação no estado normal.</a:t>
            </a:r>
          </a:p>
          <a:p/>
          <a:p>
            <a:r>
              <a:t>**Objetivo cognitivo.** Ao final do slide, a turma deve conseguir explicar a decisão técnica associada a **captura de baseline** sem recorrer a definições genéricas de agentes.</a:t>
            </a:r>
          </a:p>
          <a:p/>
          <a:p>
            <a:r>
              <a:t>**Como conduzir / o que apontar.** Abra a imagem e relacione com UI ao vivo.</a:t>
            </a:r>
          </a:p>
          <a:p/>
          <a:p>
            <a:r>
              <a:t>**Conexão com o núcleo congelado.** `artifacts/visual/baseline.png`.</a:t>
            </a:r>
          </a:p>
          <a:p/>
          <a:p>
            <a:r>
              <a:t>**Nuance técnica.** Em produção, baseline approval deve ser rastreável a commit/release.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Vocês atualizariam baseline automaticamente?</a:t>
            </a:r>
          </a:p>
          <a:p/>
          <a:p>
            <a:r>
              <a:t>**Gancho concreto.** Agora injetamos uma mudança controlada.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35</a:t>
            </a:r>
          </a:p>
          <a:p/>
          <a:p>
            <a:r>
              <a:t>## Slide 35 — CENÁRIO VISUAL CONTROLADO</a:t>
            </a:r>
          </a:p>
          <a:p/>
          <a:p>
            <a:r>
              <a:t>**Onde estamos — Dia 2.** Ative `visual_checkout_shift` e atualize a página. Mostre que apenas margin-left muda 120px.</a:t>
            </a:r>
          </a:p>
          <a:p/>
          <a:p>
            <a:r>
              <a:t>**Objetivo cognitivo.** Ao final do slide, a turma deve conseguir explicar a decisão técnica associada a **cenário visual controlado** sem recorrer a definições genéricas de agentes.</a:t>
            </a:r>
          </a:p>
          <a:p/>
          <a:p>
            <a:r>
              <a:t>**Como conduzir / o que apontar.** Não fale ainda em score; peça julgamento humano rápido.</a:t>
            </a:r>
          </a:p>
          <a:p/>
          <a:p>
            <a:r>
              <a:t>**Conexão com o núcleo congelado.** `app/web/templates/checkout.html + scenario API`.</a:t>
            </a:r>
          </a:p>
          <a:p/>
          <a:p>
            <a:r>
              <a:t>**Nuance técnica.** O cenário permite conhecer ground truth para fins didáticos, mas o comparador não recebe esse nome.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Isso deveria bloquear release?</a:t>
            </a:r>
          </a:p>
          <a:p/>
          <a:p>
            <a:r>
              <a:t>**Gancho concreto.** Capturamos current antes de medir.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36</a:t>
            </a:r>
          </a:p>
          <a:p/>
          <a:p>
            <a:r>
              <a:t>## Slide 36 — CAPTURA CURRENT</a:t>
            </a:r>
          </a:p>
          <a:p/>
          <a:p>
            <a:r>
              <a:t>**Onde estamos — Dia 2.** Mostre `current.png` e comparação visual com baseline.</a:t>
            </a:r>
          </a:p>
          <a:p/>
          <a:p>
            <a:r>
              <a:t>**Objetivo cognitivo.** Ao final do slide, a turma deve conseguir explicar a decisão técnica associada a **captura current** sem recorrer a definições genéricas de agentes.</a:t>
            </a:r>
          </a:p>
          <a:p/>
          <a:p>
            <a:r>
              <a:t>**Como conduzir / o que apontar.** Reforce mesmas dimensões/viewport.</a:t>
            </a:r>
          </a:p>
          <a:p/>
          <a:p>
            <a:r>
              <a:t>**Conexão com o núcleo congelado.** `artifacts/visual/current.png`.</a:t>
            </a:r>
          </a:p>
          <a:p/>
          <a:p>
            <a:r>
              <a:t>**Nuance técnica.** Se dimensões diferem, compare.py aborta; isso evita score sem sentido.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parte da imagem mudou?</a:t>
            </a:r>
          </a:p>
          <a:p/>
          <a:p>
            <a:r>
              <a:t>**Gancho concreto.** O primeiro sinal quantitativo será pixel diff.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37</a:t>
            </a:r>
          </a:p>
          <a:p/>
          <a:p>
            <a:r>
              <a:t>## Slide 37 — PIXEL DIFF: O PRIMEIRO SINAL</a:t>
            </a:r>
          </a:p>
          <a:p/>
          <a:p>
            <a:r>
              <a:t>**Onde estamos — Dia 2.** Explique `changed=np.any(aa!=bb,axis=2)` e mean como proporção de pixels alterados.</a:t>
            </a:r>
          </a:p>
          <a:p/>
          <a:p>
            <a:r>
              <a:t>**Objetivo cognitivo.** Ao final do slide, a turma deve conseguir explicar a decisão técnica associada a **pixel diff: o primeiro sinal** sem recorrer a definições genéricas de agentes.</a:t>
            </a:r>
          </a:p>
          <a:p/>
          <a:p>
            <a:r>
              <a:t>**Como conduzir / o que apontar.** Use 0.01148 ≈ 1.15%.</a:t>
            </a:r>
          </a:p>
          <a:p/>
          <a:p>
            <a:r>
              <a:t>**Conexão com o núcleo congelado.** `visual/compare.py`.</a:t>
            </a:r>
          </a:p>
          <a:p/>
          <a:p>
            <a:r>
              <a:t>**Nuance técnica.** Pixel equality é extrema: antialiasing pequeno conta como mudança.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1.15% é muito ou pouco?</a:t>
            </a:r>
          </a:p>
          <a:p/>
          <a:p>
            <a:r>
              <a:t>**Gancho concreto.** Precisamos localizar esses pixels: bounding box.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38</a:t>
            </a:r>
          </a:p>
          <a:p/>
          <a:p>
            <a:r>
              <a:t>## Slide 38 — BOUNDING BOX: ONDE MUDOU</a:t>
            </a:r>
          </a:p>
          <a:p/>
          <a:p>
            <a:r>
              <a:t>**Onde estamos — Dia 2.** Defina bbox como menor retângulo que contém diferenças. Use `[285,237,567,297]` e aponte região do CTA.</a:t>
            </a:r>
          </a:p>
          <a:p/>
          <a:p>
            <a:r>
              <a:t>**Objetivo cognitivo.** Ao final do slide, a turma deve conseguir explicar a decisão técnica associada a **bounding box: onde mudou** sem recorrer a definições genéricas de agentes.</a:t>
            </a:r>
          </a:p>
          <a:p/>
          <a:p>
            <a:r>
              <a:t>**Como conduzir / o que apontar.** Explique que bbox acrescenta localização, não semântica.</a:t>
            </a:r>
          </a:p>
          <a:p/>
          <a:p>
            <a:r>
              <a:t>**Conexão com o núcleo congelado.** `visual/compare.py`.</a:t>
            </a:r>
          </a:p>
          <a:p/>
          <a:p>
            <a:r>
              <a:t>**Nuance técnica.** Uma bbox grande pode incluir regiões separadas; é simplificação.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Como policy mudaria se bbox intercepta região crítica?</a:t>
            </a:r>
          </a:p>
          <a:p/>
          <a:p>
            <a:r>
              <a:t>**Gancho concreto.** Agora introduzimos uma medida estrutural menos sensível que pixel equality.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39</a:t>
            </a:r>
          </a:p>
          <a:p/>
          <a:p>
            <a:r>
              <a:t>## Slide 39 — SSIM: SIMILARIDADE ESTRUTURAL</a:t>
            </a:r>
          </a:p>
          <a:p/>
          <a:p>
            <a:r>
              <a:t>**Onde estamos — Dia 2.** Defina SSIM como índice de similaridade estrutural baseado em comparação local de luminância, contraste e estrutura.</a:t>
            </a:r>
          </a:p>
          <a:p/>
          <a:p>
            <a:r>
              <a:t>**Objetivo cognitivo.** Ao final do slide, a turma deve conseguir explicar a decisão técnica associada a **ssim: similaridade estrutural** sem recorrer a definições genéricas de agentes.</a:t>
            </a:r>
          </a:p>
          <a:p/>
          <a:p>
            <a:r>
              <a:t>**Como conduzir / o que apontar.** Use valor 0.9869 e deixe claro: 1 indica identidade neste cálculo, não probabilidade de correção.</a:t>
            </a:r>
          </a:p>
          <a:p/>
          <a:p>
            <a:r>
              <a:t>**Conexão com o núcleo congelado.** `visual/compare.py`.</a:t>
            </a:r>
          </a:p>
          <a:p/>
          <a:p>
            <a:r>
              <a:t>**Nuance técnica.** SSIM foi criado para qualidade perceptual de imagem; uso em UI exige política adicional.</a:t>
            </a:r>
          </a:p>
          <a:p/>
          <a:p>
            <a:r>
              <a:t>**Erro conceitual comum.** Ler SSIM como probabilidade de correção.</a:t>
            </a:r>
          </a:p>
          <a:p/>
          <a:p>
            <a:r>
              <a:t>**Pergunta de checagem.** 98.69% parecido significa PASS?</a:t>
            </a:r>
          </a:p>
          <a:p/>
          <a:p>
            <a:r>
              <a:t>**Gancho concreto.** Vamos abrir a matemática intuitiva.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40</a:t>
            </a:r>
          </a:p>
          <a:p/>
          <a:p>
            <a:r>
              <a:t>## Slide 40 — A MATEMÁTICA INTUITIVA DO SSIM</a:t>
            </a:r>
          </a:p>
          <a:p/>
          <a:p>
            <a:r>
              <a:t>**Onde estamos — Dia 2.** Mostre l(x,y), c(x,y), s(x,y) e produto. Explique médias, variâncias e covariância intuitivamente; C1/C2 estabilizam divisões.</a:t>
            </a:r>
          </a:p>
          <a:p/>
          <a:p>
            <a:r>
              <a:t>**Objetivo cognitivo.** Ao final do slide, a turma deve conseguir explicar a decisão técnica associada a **a matemática intuitiva do ssim** sem recorrer a definições genéricas de agentes.</a:t>
            </a:r>
          </a:p>
          <a:p/>
          <a:p>
            <a:r>
              <a:t>**Como conduzir / o que apontar.** Conecte `data_range=255` ao grayscale 8-bit do código.</a:t>
            </a:r>
          </a:p>
          <a:p/>
          <a:p>
            <a:r>
              <a:t>**Conexão com o núcleo congelado.** `visual/compare.py`.</a:t>
            </a:r>
          </a:p>
          <a:p/>
          <a:p>
            <a:r>
              <a:t>**Nuance técnica.** scikit-image calcula janelas locais e agrega; parâmetros de window/channel importam em outros casos.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Por que converter para grayscale pode perder um tipo de regressão?</a:t>
            </a:r>
          </a:p>
          <a:p/>
          <a:p>
            <a:r>
              <a:t>**Gancho concreto.** O próximo slide demonstra a limitação de score global.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41</a:t>
            </a:r>
          </a:p>
          <a:p/>
          <a:p>
            <a:r>
              <a:t>## Slide 41 — SCORE GLOBAL E BUG LOCALIZADO</a:t>
            </a:r>
          </a:p>
          <a:p/>
          <a:p>
            <a:r>
              <a:t>**Onde estamos — Dia 2.** Confronte: SSIM 0.9869 alto, mas CTA claramente deslocado. Essa é a ideia-chave do Dia 2.</a:t>
            </a:r>
          </a:p>
          <a:p/>
          <a:p>
            <a:r>
              <a:t>**Objetivo cognitivo.** Ao final do slide, a turma deve conseguir explicar a decisão técnica associada a **score global e bug localizado** sem recorrer a definições genéricas de agentes.</a:t>
            </a:r>
          </a:p>
          <a:p/>
          <a:p>
            <a:r>
              <a:t>**Como conduzir / o que apontar.** Aponte bbox e CTA.</a:t>
            </a:r>
          </a:p>
          <a:p/>
          <a:p>
            <a:r>
              <a:t>**Conexão com o núcleo congelado.** `artifacts/visual/metrics.json`.</a:t>
            </a:r>
          </a:p>
          <a:p/>
          <a:p>
            <a:r>
              <a:t>**Nuance técnica.** Small critical region pode ter impacto de negócio desproporcional ao score global.</a:t>
            </a:r>
          </a:p>
          <a:p/>
          <a:p>
            <a:r>
              <a:t>**Erro conceitual comum.** Usar threshold global para região crítica.</a:t>
            </a:r>
          </a:p>
          <a:p/>
          <a:p>
            <a:r>
              <a:t>**Pergunta de checagem.** Que política regional vocês criariam para CTA?</a:t>
            </a:r>
          </a:p>
          <a:p/>
          <a:p>
            <a:r>
              <a:t>**Gancho concreto.** Agora consolidamos a evidência validada da execução.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42</a:t>
            </a:r>
          </a:p>
          <a:p/>
          <a:p>
            <a:r>
              <a:t>## Slide 42 — EVIDÊNCIA REAL VALIDADA</a:t>
            </a:r>
          </a:p>
          <a:p/>
          <a:p>
            <a:r>
              <a:t>**Onde estamos — Dia 2.** Leia os três números reais: ratio 0.0115, SSIM 0.9869, bbox. Não trate como benchmarks universais.</a:t>
            </a:r>
          </a:p>
          <a:p/>
          <a:p>
            <a:r>
              <a:t>**Objetivo cognitivo.** Ao final do slide, a turma deve conseguir explicar a decisão técnica associada a **evidência real validada** sem recorrer a definições genéricas de agentes.</a:t>
            </a:r>
          </a:p>
          <a:p/>
          <a:p>
            <a:r>
              <a:t>**Como conduzir / o que apontar.** Explique que pequenas variações de render podem ocorrer em nova máquina.</a:t>
            </a:r>
          </a:p>
          <a:p/>
          <a:p>
            <a:r>
              <a:t>**Conexão com o núcleo congelado.** `artifacts/visual/metrics.json`.</a:t>
            </a:r>
          </a:p>
          <a:p/>
          <a:p>
            <a:r>
              <a:t>**Nuance técnica.** O padrão relativo importa mais que reproduzir cada decimal.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desses três sinais diz 'o que' mudou?</a:t>
            </a:r>
          </a:p>
          <a:p/>
          <a:p>
            <a:r>
              <a:t>**Gancho concreto.** Nenhum; por isso o diff é também artefato de comunicação.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43</a:t>
            </a:r>
          </a:p>
          <a:p/>
          <a:p>
            <a:r>
              <a:t>## Slide 43 — DIFF COMO ARTEFATO DE COMUNICAÇÃO</a:t>
            </a:r>
          </a:p>
          <a:p/>
          <a:p>
            <a:r>
              <a:t>**Onde estamos — Dia 2.** Abra `diff.png` e mostre contraste aumentado 4×. Explique que diff facilita review humano e também alimenta o VLM.</a:t>
            </a:r>
          </a:p>
          <a:p/>
          <a:p>
            <a:r>
              <a:t>**Objetivo cognitivo.** Ao final do slide, a turma deve conseguir explicar a decisão técnica associada a **diff como artefato de comunicação** sem recorrer a definições genéricas de agentes.</a:t>
            </a:r>
          </a:p>
          <a:p/>
          <a:p>
            <a:r>
              <a:t>**Como conduzir / o que apontar.** Diferencie raw difference de heatmap semântico.</a:t>
            </a:r>
          </a:p>
          <a:p/>
          <a:p>
            <a:r>
              <a:t>**Conexão com o núcleo congelado.** `artifacts/visual/diff.png`.</a:t>
            </a:r>
          </a:p>
          <a:p/>
          <a:p>
            <a:r>
              <a:t>**Nuance técnica.** Artefatos visuais devem ser persistidos para revisão/auditoria.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informação um VLM poderia extrair do diff?</a:t>
            </a:r>
          </a:p>
          <a:p/>
          <a:p>
            <a:r>
              <a:t>**Gancho concreto.** Vamos usá-lo como triador, não oracle final.</a:t>
            </a:r>
          </a:p>
          <a:p/>
          <a:p>
            <a:r>
              <a:t>**Ritmo.** rápido/normal.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44</a:t>
            </a:r>
          </a:p>
          <a:p/>
          <a:p>
            <a:r>
              <a:t>## Slide 44 — VLM COMO TRIADOR VISUAL</a:t>
            </a:r>
          </a:p>
          <a:p/>
          <a:p>
            <a:r>
              <a:t>**Onde estamos — Dia 2.** Posicione VLM como camada de interpretação: recebe baseline/current/diff + metrics e retorna schema de triagem.</a:t>
            </a:r>
          </a:p>
          <a:p/>
          <a:p>
            <a:r>
              <a:t>**Objetivo cognitivo.** Ao final do slide, a turma deve conseguir explicar a decisão técnica associada a **vlm como triador visual** sem recorrer a definições genéricas de agentes.</a:t>
            </a:r>
          </a:p>
          <a:p/>
          <a:p>
            <a:r>
              <a:t>**Como conduzir / o que apontar.** Aponte `change_type`, `severity`, `affected_region`, evidence, recommendation.</a:t>
            </a:r>
          </a:p>
          <a:p/>
          <a:p>
            <a:r>
              <a:t>**Conexão com o núcleo congelado.** `visual/vlm_triage.py`.</a:t>
            </a:r>
          </a:p>
          <a:p/>
          <a:p>
            <a:r>
              <a:t>**Nuance técnica.** Multimodal model pode alucinar; evidence precisa ser grounded nas imagens/métricas.</a:t>
            </a:r>
          </a:p>
          <a:p/>
          <a:p>
            <a:r>
              <a:t>**Erro conceitual comum.** Transformar VLM em oracle final.</a:t>
            </a:r>
          </a:p>
          <a:p/>
          <a:p>
            <a:r>
              <a:t>**Pergunta de checagem.** Por que não perguntar simplesmente 'passa ou falha?'</a:t>
            </a:r>
          </a:p>
          <a:p/>
          <a:p>
            <a:r>
              <a:t>**Gancho concreto.** O prompt multimodal explicita essas restrições.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45</a:t>
            </a:r>
          </a:p>
          <a:p/>
          <a:p>
            <a:r>
              <a:t>## Slide 45 — O PROMPT MULTIMODAL</a:t>
            </a:r>
          </a:p>
          <a:p/>
          <a:p>
            <a:r>
              <a:t>**Onde estamos — Dia 2.** Mostre prompt `/no_think`, ordem das imagens, exigência de citar shift/métricas e proibição de inferir functional correctness.</a:t>
            </a:r>
          </a:p>
          <a:p/>
          <a:p>
            <a:r>
              <a:t>**Objetivo cognitivo.** Ao final do slide, a turma deve conseguir explicar a decisão técnica associada a **o prompt multimodal** sem recorrer a definições genéricas de agentes.</a:t>
            </a:r>
          </a:p>
          <a:p/>
          <a:p>
            <a:r>
              <a:t>**Como conduzir / o que apontar.** Explique `images` base64 no formato nativo Ollama e `format=schema`.</a:t>
            </a:r>
          </a:p>
          <a:p/>
          <a:p>
            <a:r>
              <a:t>**Conexão com o núcleo congelado.** `visual/vlm_triage.py`.</a:t>
            </a:r>
          </a:p>
          <a:p/>
          <a:p>
            <a:r>
              <a:t>**Nuance técnica.** A correção do payload foi necessária após uma falha real com formato OpenAI-style.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tipo de erro surgiria se a ordem das imagens fosse ambígua?</a:t>
            </a:r>
          </a:p>
          <a:p/>
          <a:p>
            <a:r>
              <a:t>**Gancho concreto.** Agora vemos a saída estruturada real.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46</a:t>
            </a:r>
          </a:p>
          <a:p/>
          <a:p>
            <a:r>
              <a:t>## Slide 46 — TRIAGEM ESTRUTURADA</a:t>
            </a:r>
          </a:p>
          <a:p/>
          <a:p>
            <a:r>
              <a:t>**Onde estamos — Dia 2.** Leia o JSON real: button_shift, low, bbox, evidence, review. Pergunte se concordam com severity.</a:t>
            </a:r>
          </a:p>
          <a:p/>
          <a:p>
            <a:r>
              <a:t>**Objetivo cognitivo.** Ao final do slide, a turma deve conseguir explicar a decisão técnica associada a **triagem estruturada** sem recorrer a definições genéricas de agentes.</a:t>
            </a:r>
          </a:p>
          <a:p/>
          <a:p>
            <a:r>
              <a:t>**Como conduzir / o que apontar.** Explique que disagreement humano não invalida pipeline; revela que severity é política/contexto.</a:t>
            </a:r>
          </a:p>
          <a:p/>
          <a:p>
            <a:r>
              <a:t>**Conexão com o núcleo congelado.** `artifacts/visual/vlm_triage.json`.</a:t>
            </a:r>
          </a:p>
          <a:p/>
          <a:p>
            <a:r>
              <a:t>**Nuance técnica.** Structured output facilita downstream, mas semântica continua probabilística.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O que a saída não consegue provar?</a:t>
            </a:r>
          </a:p>
          <a:p/>
          <a:p>
            <a:r>
              <a:t>**Gancho concreto.** O próximo slide formaliza justamente o que o VLM não decide.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47</a:t>
            </a:r>
          </a:p>
          <a:p/>
          <a:p>
            <a:r>
              <a:t>## Slide 47 — O QUE O VLM NÃO DECIDE</a:t>
            </a:r>
          </a:p>
          <a:p/>
          <a:p>
            <a:r>
              <a:t>**Onde estamos — Dia 2.** Liste fronteiras: não decide functional correctness, não atualiza baseline, não altera release policy sozinho.</a:t>
            </a:r>
          </a:p>
          <a:p/>
          <a:p>
            <a:r>
              <a:t>**Objetivo cognitivo.** Ao final do slide, a turma deve conseguir explicar a decisão técnica associada a **o que o vlm não decide** sem recorrer a definições genéricas de agentes.</a:t>
            </a:r>
          </a:p>
          <a:p/>
          <a:p>
            <a:r>
              <a:t>**Como conduzir / o que apontar.** Conecte ao Dia 1: modelo propõe/interpreta, policy decide.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Separar diagnosis from action é padrão transversal da semana.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evidência adicional seria necessária para dizer que CTA deslocado quebra conversão?</a:t>
            </a:r>
          </a:p>
          <a:p/>
          <a:p>
            <a:r>
              <a:t>**Gancho concreto.** Vamos definir accept/review/block como policy layer.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48</a:t>
            </a:r>
          </a:p>
          <a:p/>
          <a:p>
            <a:r>
              <a:t>## Slide 48 — POLÍTICAS VISUAIS: ACCEPT/REVIEW/BLOCK</a:t>
            </a:r>
          </a:p>
          <a:p/>
          <a:p>
            <a:r>
              <a:t>**Onde estamos — Dia 2.** Explique três estados: accept para mudança tolerada, review para ambiguidade/impacto humano, block para regra crítica clara.</a:t>
            </a:r>
          </a:p>
          <a:p/>
          <a:p>
            <a:r>
              <a:t>**Objetivo cognitivo.** Ao final do slide, a turma deve conseguir explicar a decisão técnica associada a **políticas visuais: accept/review/block** sem recorrer a definições genéricas de agentes.</a:t>
            </a:r>
          </a:p>
          <a:p/>
          <a:p>
            <a:r>
              <a:t>**Como conduzir / o que apontar.** Mostre que complete report deriva `visual.policy='review'` quando há mudança e triage review.</a:t>
            </a:r>
          </a:p>
          <a:p/>
          <a:p>
            <a:r>
              <a:t>**Conexão com o núcleo congelado.** `release/policy.py (conceito downstream)`.</a:t>
            </a:r>
          </a:p>
          <a:p/>
          <a:p>
            <a:r>
              <a:t>**Nuance técnica.** Policy deve considerar região/severidade/branch, não só VLM.</a:t>
            </a:r>
          </a:p>
          <a:p/>
          <a:p>
            <a:r>
              <a:t>**Erro conceitual comum.** Usar recommendation do VLM como policy sem contexto.</a:t>
            </a:r>
          </a:p>
          <a:p/>
          <a:p>
            <a:r>
              <a:t>**Pergunta de checagem.** Quem pode conceder waiver de uma regressão visual?</a:t>
            </a:r>
          </a:p>
          <a:p/>
          <a:p>
            <a:r>
              <a:t>**Gancho concreto.** Antes do exercício, precisamos tratar conteúdo dinâmico e máscaras.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49</a:t>
            </a:r>
          </a:p>
          <a:p/>
          <a:p>
            <a:r>
              <a:t>## Slide 49 — CONTEÚDO DINÂMICO E MÁSCARAS</a:t>
            </a:r>
          </a:p>
          <a:p/>
          <a:p>
            <a:r>
              <a:t>**Onde estamos — Dia 2.** Explique dynamic regions: timestamps, preços voláteis, IDs. Máscara exclui ou flexibiliza comparação de regiões conhecidas.</a:t>
            </a:r>
          </a:p>
          <a:p/>
          <a:p>
            <a:r>
              <a:t>**Objetivo cognitivo.** Ao final do slide, a turma deve conseguir explicar a decisão técnica associada a **conteúdo dinâmico e máscaras** sem recorrer a definições genéricas de agentes.</a:t>
            </a:r>
          </a:p>
          <a:p/>
          <a:p>
            <a:r>
              <a:t>**Como conduzir / o que apontar.** Diferencie máscara de 'ignorar tudo que muda'.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Mask muito ampla aumenta false negatives.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dado dinâmico vocês mascarariam e qual manteriam?</a:t>
            </a:r>
          </a:p>
          <a:p/>
          <a:p>
            <a:r>
              <a:t>**Gancho concreto.** Isso leva diretamente ao trade-off false positive/negative.</a:t>
            </a:r>
          </a:p>
          <a:p/>
          <a:p>
            <a:r>
              <a:t>**Ritmo.** 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50</a:t>
            </a:r>
          </a:p>
          <a:p/>
          <a:p>
            <a:r>
              <a:t>## Slide 50 — FALSE POSITIVES E FALSE NEGATIVES</a:t>
            </a:r>
          </a:p>
          <a:p/>
          <a:p>
            <a:r>
              <a:t>**Onde estamos — Dia 2.** Defina FP: ferramenta acusa regressão aceitável; FN: aceita regressão relevante. Mostre que reduzir um pode aumentar outro.</a:t>
            </a:r>
          </a:p>
          <a:p/>
          <a:p>
            <a:r>
              <a:t>**Objetivo cognitivo.** Ao final do slide, a turma deve conseguir explicar a decisão técnica associada a **false positives e false negatives** sem recorrer a definições genéricas de agentes.</a:t>
            </a:r>
          </a:p>
          <a:p/>
          <a:p>
            <a:r>
              <a:t>**Como conduzir / o que apontar.** Use CTA pequeno como exemplo de FN potencial com threshold global alto.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Não existe threshold universal ótimo.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erro é mais caro no checkout?</a:t>
            </a:r>
          </a:p>
          <a:p/>
          <a:p>
            <a:r>
              <a:t>**Gancho concreto.** Uma fonte clássica de falso negativo organizacional é baseline pollution.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51</a:t>
            </a:r>
          </a:p>
          <a:p/>
          <a:p>
            <a:r>
              <a:t>## Slide 51 — BASELINE POLLUTION</a:t>
            </a:r>
          </a:p>
          <a:p/>
          <a:p>
            <a:r>
              <a:t>**Onde estamos — Dia 2.** Defina baseline pollution: atualizar referência incluindo mudança não revisada, normalizando o bug.</a:t>
            </a:r>
          </a:p>
          <a:p/>
          <a:p>
            <a:r>
              <a:t>**Objetivo cognitivo.** Ao final do slide, a turma deve conseguir explicar a decisão técnica associada a **baseline pollution** sem recorrer a definições genéricas de agentes.</a:t>
            </a:r>
          </a:p>
          <a:p/>
          <a:p>
            <a:r>
              <a:t>**Como conduzir / o que apontar.** Explique aprovação/versionamento e branch baselines.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Auto-update de baseline após qualquer falha destrói valor do teste.</a:t>
            </a:r>
          </a:p>
          <a:p/>
          <a:p>
            <a:r>
              <a:t>**Erro conceitual comum.** Atualizar baseline automaticamente após qualquer diferença.</a:t>
            </a:r>
          </a:p>
          <a:p/>
          <a:p>
            <a:r>
              <a:t>**Pergunta de checagem.** Que processo deveria aprovar nova baseline?</a:t>
            </a:r>
          </a:p>
          <a:p/>
          <a:p>
            <a:r>
              <a:t>**Gancho concreto.** Agora os grupos vão desenhar policies para mudanças distintas.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52</a:t>
            </a:r>
          </a:p>
          <a:p/>
          <a:p>
            <a:r>
              <a:t>## Slide 52 — EXERCÍCIO MENTORADO DIA 2</a:t>
            </a:r>
          </a:p>
          <a:p/>
          <a:p>
            <a:r>
              <a:t>**Onde estamos — Dia 2.** Apresente grupos e enfatize variações reais: CTA missing, viewport, dynamic content, region policy.</a:t>
            </a:r>
          </a:p>
          <a:p/>
          <a:p>
            <a:r>
              <a:t>**Objetivo cognitivo.** Ao final do slide, a turma deve conseguir explicar a decisão técnica associada a **exercício mentorado dia 2** sem recorrer a definições genéricas de agentes.</a:t>
            </a:r>
          </a:p>
          <a:p/>
          <a:p>
            <a:r>
              <a:t>**Como conduzir / o que apontar.** Exija baseline/current/diff/metrics e justificativa de policy.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Não permitam modificar núcleo para fabricar resultado.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grupo terá maior risco de false negative?</a:t>
            </a:r>
          </a:p>
          <a:p/>
          <a:p>
            <a:r>
              <a:t>**Gancho concreto.** A rubrica explicita como avaliar a decisão visual.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53</a:t>
            </a:r>
          </a:p>
          <a:p/>
          <a:p>
            <a:r>
              <a:t>## Slide 53 — RUBRICA VISUAL</a:t>
            </a:r>
          </a:p>
          <a:p/>
          <a:p>
            <a:r>
              <a:t>**Onde estamos — Dia 2.** Explique critérios: reprodutibilidade, interpretação de métricas, policy, FP/FN, evidência e comunicação.</a:t>
            </a:r>
          </a:p>
          <a:p/>
          <a:p>
            <a:r>
              <a:t>**Objetivo cognitivo.** Ao final do slide, a turma deve conseguir explicar a decisão técnica associada a **rubrica visual** sem recorrer a definições genéricas de agentes.</a:t>
            </a:r>
          </a:p>
          <a:p/>
          <a:p>
            <a:r>
              <a:t>**Como conduzir / o que apontar.** Diga que score bonito não pontua se a política é indefensável.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Avaliar capacidade de decisão, não memorização de SSIM.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Como provarão que o ambiente foi controlado?</a:t>
            </a:r>
          </a:p>
          <a:p/>
          <a:p>
            <a:r>
              <a:t>**Gancho concreto.** Fechamos o dia distinguindo medição, interpretação e decisão.</a:t>
            </a:r>
          </a:p>
          <a:p/>
          <a:p>
            <a:r>
              <a:t>**Ritmo.** rápido/normal.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54</a:t>
            </a:r>
          </a:p>
          <a:p/>
          <a:p>
            <a:r>
              <a:t>## Slide 54 — FECHAMENTO DIA 2</a:t>
            </a:r>
          </a:p>
          <a:p/>
          <a:p>
            <a:r>
              <a:t>**Onde estamos — Dia 2.** Recapitule: Playwright mede estado real; pixel/SSIM localizam/quantificam; VLM interpreta; policy governa.</a:t>
            </a:r>
          </a:p>
          <a:p/>
          <a:p>
            <a:r>
              <a:t>**Objetivo cognitivo.** Ao final do slide, a turma deve conseguir explicar a decisão técnica associada a **fechamento dia 2** sem recorrer a definições genéricas de agentes.</a:t>
            </a:r>
          </a:p>
          <a:p/>
          <a:p>
            <a:r>
              <a:t>**Como conduzir / o que apontar.** Faça ponte para produção: amanhã o input não será screenshot, mas sintoma operacional.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Preserve artifacts/visual para release report.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Em produção, que sinal substitui 'current.png' quando o problema é latência?</a:t>
            </a:r>
          </a:p>
          <a:p/>
          <a:p>
            <a:r>
              <a:t>**Gancho concreto.** Resposta: telemetria. Início do Dia 3.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02_dia2_implementacao.md; 02_dia2_exercicio_mentorado.md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55</a:t>
            </a:r>
          </a:p>
          <a:p/>
          <a:p>
            <a:r>
              <a:t>## Slide 55 — DIA 3: ASSISTENTE SRE INTELIGENTE</a:t>
            </a:r>
          </a:p>
          <a:p/>
          <a:p>
            <a:r>
              <a:t>**Onde estamos — Dia 3.** Abra Dia 3 com tese: agente recebe sintoma, não causa. Tools read-only coletam evidência; conclusão deve ser provável e bounded.</a:t>
            </a:r>
          </a:p>
          <a:p/>
          <a:p>
            <a:r>
              <a:t>**Objetivo cognitivo.** Ao final do slide, a turma deve conseguir explicar a decisão técnica associada a **dia 3: assistente sre inteligente** sem recorrer a definições genéricas de agentes.</a:t>
            </a:r>
          </a:p>
          <a:p/>
          <a:p>
            <a:r>
              <a:t>**Como conduzir / o que apontar.** Mostre que o aluno já conhece tool calling; aqui o foco é evidência e risco operacional.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Não prometa auto-remediation completa.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dado vocês dariam a um agente ao receber alerta de latência?</a:t>
            </a:r>
          </a:p>
          <a:p/>
          <a:p>
            <a:r>
              <a:t>**Gancho concreto.** Primeiro, o problema de RCA inventada.</a:t>
            </a:r>
          </a:p>
          <a:p/>
          <a:p>
            <a:r>
              <a:t>**Ritmo.** rápido/normal.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56</a:t>
            </a:r>
          </a:p>
          <a:p/>
          <a:p>
            <a:r>
              <a:t>## Slide 56 — O PROBLEMA: INVESTIGAR SEM INVENTAR RCA</a:t>
            </a:r>
          </a:p>
          <a:p/>
          <a:p>
            <a:r>
              <a:t>**Onde estamos — Dia 3.** Explique que LLM consegue produzir narrativa causal plausível mesmo sem dados. Em SRE, plausibilidade sem telemetria é perigosa.</a:t>
            </a:r>
          </a:p>
          <a:p/>
          <a:p>
            <a:r>
              <a:t>**Objetivo cognitivo.** Ao final do slide, a turma deve conseguir explicar a decisão técnica associada a **o problema: investigar sem inventar rca** sem recorrer a definições genéricas de agentes.</a:t>
            </a:r>
          </a:p>
          <a:p/>
          <a:p>
            <a:r>
              <a:t>**Como conduzir / o que apontar.** Use contraste 'logs no prompt' versus investigação iterativa.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RCA é processo, não gênero textual.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Como diferenciar explicação convincente de explicação sustentada?</a:t>
            </a:r>
          </a:p>
          <a:p/>
          <a:p>
            <a:r>
              <a:t>**Gancho concreto.** Precisamos formalizar observabilidade.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57</a:t>
            </a:r>
          </a:p>
          <a:p/>
          <a:p>
            <a:r>
              <a:t>## Slide 57 — DEFINIÇÃO CANÔNICA: OBSERVABILIDADE</a:t>
            </a:r>
          </a:p>
          <a:p/>
          <a:p>
            <a:r>
              <a:t>**Onde estamos — Dia 3.** Defina observability operacionalmente: capacidade de inferir estados internos a partir de sinais externos úteis para investigação.</a:t>
            </a:r>
          </a:p>
          <a:p/>
          <a:p>
            <a:r>
              <a:t>**Objetivo cognitivo.** Ao final do slide, a turma deve conseguir explicar a decisão técnica associada a **definição canônica: observabilidade** sem recorrer a definições genéricas de agentes.</a:t>
            </a:r>
          </a:p>
          <a:p/>
          <a:p>
            <a:r>
              <a:t>**Como conduzir / o que apontar.** Diferencie monitoring como checks conhecidos sem fazer oposição absoluta.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Ferramenta ≠ observabilidade; qualidade de instrumentação importa.</a:t>
            </a:r>
          </a:p>
          <a:p/>
          <a:p>
            <a:r>
              <a:t>**Erro conceitual comum.** Confundir instalação de ferramentas com observabilidade.</a:t>
            </a:r>
          </a:p>
          <a:p/>
          <a:p>
            <a:r>
              <a:t>**Pergunta de checagem.** Ter Prometheus e Jaeger instalados garante observabilidade?</a:t>
            </a:r>
          </a:p>
          <a:p/>
          <a:p>
            <a:r>
              <a:t>**Gancho concreto.** Vamos separar sinais: metrics, logs, traces.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58</a:t>
            </a:r>
          </a:p>
          <a:p/>
          <a:p>
            <a:r>
              <a:t>## Slide 58 — MÉTRICAS, LOGS E TRACES</a:t>
            </a:r>
          </a:p>
          <a:p/>
          <a:p>
            <a:r>
              <a:t>**Onde estamos — Dia 3.** Explique papéis: metrics agregam, logs detalham eventos, traces mostram trajetória/tempo. Use payment latency para comparar.</a:t>
            </a:r>
          </a:p>
          <a:p/>
          <a:p>
            <a:r>
              <a:t>**Objetivo cognitivo.** Ao final do slide, a turma deve conseguir explicar a decisão técnica associada a **métricas, logs e traces** sem recorrer a definições genéricas de agentes.</a:t>
            </a:r>
          </a:p>
          <a:p/>
          <a:p>
            <a:r>
              <a:t>**Como conduzir / o que apontar.** Mencione correlação via trace IDs/exemplars como evolução.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Não diga que são os únicos sinais possíveis.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Depois de um alerta de p95 alto, que sinal consultariam para localizar componente?</a:t>
            </a:r>
          </a:p>
          <a:p/>
          <a:p>
            <a:r>
              <a:t>**Gancho concreto.** Antes disso, heurísticas RED/USE ajudam a escolher métricas.</a:t>
            </a:r>
          </a:p>
          <a:p/>
          <a:p>
            <a:r>
              <a:t>**Ritmo.** 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59</a:t>
            </a:r>
          </a:p>
          <a:p/>
          <a:p>
            <a:r>
              <a:t>## Slide 59 — RED E USE</a:t>
            </a:r>
          </a:p>
          <a:p/>
          <a:p>
            <a:r>
              <a:t>**Onde estamos — Dia 3.** Defina RED para serviços e USE para recursos. Mapeie REQUESTS/DURATION do núcleo a RED.</a:t>
            </a:r>
          </a:p>
          <a:p/>
          <a:p>
            <a:r>
              <a:t>**Objetivo cognitivo.** Ao final do slide, a turma deve conseguir explicar a decisão técnica associada a **red e use** sem recorrer a definições genéricas de agentes.</a:t>
            </a:r>
          </a:p>
          <a:p/>
          <a:p>
            <a:r>
              <a:t>**Como conduzir / o que apontar.** Diferencie utilization e saturation.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Heurísticas não substituem SLO.</a:t>
            </a:r>
          </a:p>
          <a:p/>
          <a:p>
            <a:r>
              <a:t>**Erro conceitual comum.** Confundir RED/USE com SLO.</a:t>
            </a:r>
          </a:p>
          <a:p/>
          <a:p>
            <a:r>
              <a:t>**Pergunta de checagem.** CPU 90% significa incidente do usuário?</a:t>
            </a:r>
          </a:p>
          <a:p/>
          <a:p>
            <a:r>
              <a:t>**Gancho concreto.** Precisamos de objetivos de confiabilidade: SLI/SLO/error budget.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60</a:t>
            </a:r>
          </a:p>
          <a:p/>
          <a:p>
            <a:r>
              <a:t>## Slide 60 — SLI, SLO E ERROR BUDGET</a:t>
            </a:r>
          </a:p>
          <a:p/>
          <a:p>
            <a:r>
              <a:t>**Onde estamos — Dia 3.** Defina SLI, SLO, error budget e diferencie SLA. Use exemplo hipotético de % checkouts abaixo de 300ms; diga explicitamente que núcleo não implementa motor completo de SLO.</a:t>
            </a:r>
          </a:p>
          <a:p/>
          <a:p>
            <a:r>
              <a:t>**Objetivo cognitivo.** Ao final do slide, a turma deve conseguir explicar a decisão técnica associada a **sli, slo e error budget** sem recorrer a definições genéricas de agentes.</a:t>
            </a:r>
          </a:p>
          <a:p/>
          <a:p>
            <a:r>
              <a:t>**Como conduzir / o que apontar.** Explique por que 100% nem sempre é objetivo racional.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Um único request lento não necessariamente viola SLO.</a:t>
            </a:r>
          </a:p>
          <a:p/>
          <a:p>
            <a:r>
              <a:t>**Erro conceitual comum.** Confundir SLO com SLA.</a:t>
            </a:r>
          </a:p>
          <a:p/>
          <a:p>
            <a:r>
              <a:t>**Pergunta de checagem.** Que janela e indicador escolheriam?</a:t>
            </a:r>
          </a:p>
          <a:p/>
          <a:p>
            <a:r>
              <a:t>**Gancho concreto.** Agora produzimos a falha real e observamos sinais.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61</a:t>
            </a:r>
          </a:p>
          <a:p/>
          <a:p>
            <a:r>
              <a:t>## Slide 61 — FALHA REAL: PAYMENT_LATENCY</a:t>
            </a:r>
          </a:p>
          <a:p/>
          <a:p>
            <a:r>
              <a:t>**Onde estamos — Dia 3.** Mostre `_payment_impl`: scenario payment_latency mede 0.25s no histogram. Compare baseline ~0.0026s com fault ~0.2576s.</a:t>
            </a:r>
          </a:p>
          <a:p/>
          <a:p>
            <a:r>
              <a:t>**Objetivo cognitivo.** Ao final do slide, a turma deve conseguir explicar a decisão técnica associada a **falha real: payment_latency** sem recorrer a definições genéricas de agentes.</a:t>
            </a:r>
          </a:p>
          <a:p/>
          <a:p>
            <a:r>
              <a:t>**Como conduzir / o que apontar.** Enfatize que latência é real, embora fault injection seja controlada.</a:t>
            </a:r>
          </a:p>
          <a:p/>
          <a:p>
            <a:r>
              <a:t>**Conexão com o núcleo congelado.** `app/api/routes.py`.</a:t>
            </a:r>
          </a:p>
          <a:p/>
          <a:p>
            <a:r>
              <a:t>**Nuance técnica.** O agente não recebe scenario.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Se vocês sabem a causa porque ativaram cenário, como evitamos vazar isso para o agente?</a:t>
            </a:r>
          </a:p>
          <a:p/>
          <a:p>
            <a:r>
              <a:t>**Gancho concreto.** Pelo input Incident e pelas fontes de telemetria.</a:t>
            </a:r>
          </a:p>
          <a:p/>
          <a:p>
            <a:r>
              <a:t>**Ritmo.** rápido/normal.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62</a:t>
            </a:r>
          </a:p>
          <a:p/>
          <a:p>
            <a:r>
              <a:t>## Slide 62 — MÉTRICA REAL EXPOSTA</a:t>
            </a:r>
          </a:p>
          <a:p/>
          <a:p>
            <a:r>
              <a:t>**Onde estamos — Dia 3.** Abra `/metrics`, destaque Counter/Histogram e dependency label. Explique exposition format e que aplicação não diagnostica, apenas mede.</a:t>
            </a:r>
          </a:p>
          <a:p/>
          <a:p>
            <a:r>
              <a:t>**Objetivo cognitivo.** Ao final do slide, a turma deve conseguir explicar a decisão técnica associada a **métrica real exposta** sem recorrer a definições genéricas de agentes.</a:t>
            </a:r>
          </a:p>
          <a:p/>
          <a:p>
            <a:r>
              <a:t>**Como conduzir / o que apontar.** Mostre sum/count/buckets se visíveis.</a:t>
            </a:r>
          </a:p>
          <a:p/>
          <a:p>
            <a:r>
              <a:t>**Conexão com o núcleo congelado.** `observability/metrics.py + /metrics`.</a:t>
            </a:r>
          </a:p>
          <a:p/>
          <a:p>
            <a:r>
              <a:t>**Nuance técnica.** Histogram exige cuidado com buckets/quantis em produção.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métrica representa o provider?</a:t>
            </a:r>
          </a:p>
          <a:p/>
          <a:p>
            <a:r>
              <a:t>**Gancho concreto.** Prometheus transforma exposition em séries consultáveis.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63</a:t>
            </a:r>
          </a:p>
          <a:p/>
          <a:p>
            <a:r>
              <a:t>## Slide 63 — PROMETHEUS COMO FONTE DE EVIDÊNCIA</a:t>
            </a:r>
          </a:p>
          <a:p/>
          <a:p>
            <a:r>
              <a:t>**Onde estamos — Dia 3.** Abra `/targets`: releaseguard UP. Depois PromQL para dependency sum/count.</a:t>
            </a:r>
          </a:p>
          <a:p/>
          <a:p>
            <a:r>
              <a:t>**Objetivo cognitivo.** Ao final do slide, a turma deve conseguir explicar a decisão técnica associada a **prometheus como fonte de evidência** sem recorrer a definições genéricas de agentes.</a:t>
            </a:r>
          </a:p>
          <a:p/>
          <a:p>
            <a:r>
              <a:t>**Como conduzir / o que apontar.** Explique scrape interval 5s, labels e HTTP API usada pelo agente.</a:t>
            </a:r>
          </a:p>
          <a:p/>
          <a:p>
            <a:r>
              <a:t>**Conexão com o núcleo congelado.** `infra/prometheus/prometheus.yml + Prometheus API`.</a:t>
            </a:r>
          </a:p>
          <a:p/>
          <a:p>
            <a:r>
              <a:t>**Nuance técnica.** Aborde cardinalidade: labels com IDs explodem séries.</a:t>
            </a:r>
          </a:p>
          <a:p/>
          <a:p>
            <a:r>
              <a:t>**Erro conceitual comum.** Usar labels de alta cardinalidade sem controle.</a:t>
            </a:r>
          </a:p>
          <a:p/>
          <a:p>
            <a:r>
              <a:t>**Pergunta de checagem.** Por que agente consulta Prometheus API em vez de `/metrics` bruto?</a:t>
            </a:r>
          </a:p>
          <a:p/>
          <a:p>
            <a:r>
              <a:t>**Gancho concreto.** Métrica aponta onde investigar, mas trace mostra request individual.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64</a:t>
            </a:r>
          </a:p>
          <a:p/>
          <a:p>
            <a:r>
              <a:t>## Slide 64 — OPENTELEMETRY NO FASTAPI</a:t>
            </a:r>
          </a:p>
          <a:p/>
          <a:p>
            <a:r>
              <a:t>**Onde estamos — Dia 3.** Abra `observability/tracing.py`: TracerProvider, Resource service.name, BatchSpanProcessor e OTLP exporter.</a:t>
            </a:r>
          </a:p>
          <a:p/>
          <a:p>
            <a:r>
              <a:t>**Objetivo cognitivo.** Ao final do slide, a turma deve conseguir explicar a decisão técnica associada a **opentelemetry no fastapi** sem recorrer a definições genéricas de agentes.</a:t>
            </a:r>
          </a:p>
          <a:p/>
          <a:p>
            <a:r>
              <a:t>**Como conduzir / o que apontar.** Explique OpenTelemetry como camada vendor-neutral; Jaeger é backend/UI.</a:t>
            </a:r>
          </a:p>
          <a:p/>
          <a:p>
            <a:r>
              <a:t>**Conexão com o núcleo congelado.** `observability/tracing.py`.</a:t>
            </a:r>
          </a:p>
          <a:p/>
          <a:p>
            <a:r>
              <a:t>**Nuance técnica.** O `service.name` foi correção concreta necessária na validação.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acontece se nomes de serviço forem inconsistentes?</a:t>
            </a:r>
          </a:p>
          <a:p/>
          <a:p>
            <a:r>
              <a:t>**Gancho concreto.** No Jaeger veremos como isso afeta descoberta e traces.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65</a:t>
            </a:r>
          </a:p>
          <a:p/>
          <a:p>
            <a:r>
              <a:t>## Slide 65 — JAEGER E TRACES DISTRIBUÍDOS</a:t>
            </a:r>
          </a:p>
          <a:p/>
          <a:p>
            <a:r>
              <a:t>**Onde estamos — Dia 3.** Defina trace/span e abra serviço releaseguard no Jaeger. Mostre operações checkout.create/payment.request.</a:t>
            </a:r>
          </a:p>
          <a:p/>
          <a:p>
            <a:r>
              <a:t>**Objetivo cognitivo.** Ao final do slide, a turma deve conseguir explicar a decisão técnica associada a **jaeger e traces distribuídos** sem recorrer a definições genéricas de agentes.</a:t>
            </a:r>
          </a:p>
          <a:p/>
          <a:p>
            <a:r>
              <a:t>**Como conduzir / o que apontar.** Explique parent/child e context propagation como conceito, mesmo que laboratório tenha spans simples.</a:t>
            </a:r>
          </a:p>
          <a:p/>
          <a:p>
            <a:r>
              <a:t>**Conexão com o núcleo congelado.** `Jaeger UI/API`.</a:t>
            </a:r>
          </a:p>
          <a:p/>
          <a:p>
            <a:r>
              <a:t>**Nuance técnica.** Trace mostra onde tempo foi observado, não causa física automaticamente.</a:t>
            </a:r>
          </a:p>
          <a:p/>
          <a:p>
            <a:r>
              <a:t>**Erro conceitual comum.** Achar que trace por si só explica causalidade.</a:t>
            </a:r>
          </a:p>
          <a:p/>
          <a:p>
            <a:r>
              <a:t>**Pergunta de checagem.** Qual span mais chama atenção no incidente?</a:t>
            </a:r>
          </a:p>
          <a:p/>
          <a:p>
            <a:r>
              <a:t>**Gancho concreto.** Vamos focar em payment.request.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66</a:t>
            </a:r>
          </a:p>
          <a:p/>
          <a:p>
            <a:r>
              <a:t>## Slide 66 — SPAN PAYMENT.REQUEST</a:t>
            </a:r>
          </a:p>
          <a:p/>
          <a:p>
            <a:r>
              <a:t>**Onde estamos — Dia 3.** Compare duration normal 865µs vs degradada 253758µs. Converta mentalmente para ~0.254s e conecte com métrica ~0.2536s.</a:t>
            </a:r>
          </a:p>
          <a:p/>
          <a:p>
            <a:r>
              <a:t>**Objetivo cognitivo.** Ao final do slide, a turma deve conseguir explicar a decisão técnica associada a **span payment.request** sem recorrer a definições genéricas de agentes.</a:t>
            </a:r>
          </a:p>
          <a:p/>
          <a:p>
            <a:r>
              <a:t>**Como conduzir / o que apontar.** Duas fontes consistentes aumentam confiança.</a:t>
            </a:r>
          </a:p>
          <a:p/>
          <a:p>
            <a:r>
              <a:t>**Conexão com o núcleo congelado.** `Jaeger trace payment.request`.</a:t>
            </a:r>
          </a:p>
          <a:p/>
          <a:p>
            <a:r>
              <a:t>**Nuance técnica.** Ainda é causa provável, não provider root cause verificada.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evidência adicional provaria problema externo?</a:t>
            </a:r>
          </a:p>
          <a:p/>
          <a:p>
            <a:r>
              <a:t>**Gancho concreto.** Agora modelamos a investigação como hipótese antes da tool.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67</a:t>
            </a:r>
          </a:p>
          <a:p/>
          <a:p>
            <a:r>
              <a:t>## Slide 67 — HIPÓTESE ANTES DA TOOL</a:t>
            </a:r>
          </a:p>
          <a:p/>
          <a:p>
            <a:r>
              <a:t>**Onde estamos — Dia 3.** Mostre ciclo hypothesis→evidence-needed→tool→observation→revision. Use alternativas payment/inventory/deploy.</a:t>
            </a:r>
          </a:p>
          <a:p/>
          <a:p>
            <a:r>
              <a:t>**Objetivo cognitivo.** Ao final do slide, a turma deve conseguir explicar a decisão técnica associada a **hipótese antes da tool** sem recorrer a definições genéricas de agentes.</a:t>
            </a:r>
          </a:p>
          <a:p/>
          <a:p>
            <a:r>
              <a:t>**Como conduzir / o que apontar.** Pergunte qual query reduz mais incerteza.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Tool call sem hipótese vira busca exploratória cara.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seria sua primeira hipótese e por quê?</a:t>
            </a:r>
          </a:p>
          <a:p/>
          <a:p>
            <a:r>
              <a:t>**Gancho concreto.** O agente operacionaliza isso via tool calling.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68</a:t>
            </a:r>
          </a:p>
          <a:p/>
          <a:p>
            <a:r>
              <a:t>## Slide 68 — TOOL CALLING SRE</a:t>
            </a:r>
          </a:p>
          <a:p/>
          <a:p>
            <a:r>
              <a:t>**Onde estamos — Dia 3.** Abra `sre/agent.py`: messages, TOOL_SPECS, loop max_steps=6, role=tool results e finalize.</a:t>
            </a:r>
          </a:p>
          <a:p/>
          <a:p>
            <a:r>
              <a:t>**Objetivo cognitivo.** Ao final do slide, a turma deve conseguir explicar a decisão técnica associada a **tool calling sre** sem recorrer a definições genéricas de agentes.</a:t>
            </a:r>
          </a:p>
          <a:p/>
          <a:p>
            <a:r>
              <a:t>**Como conduzir / o que apontar.** Destaque temperature 0, think false e bounded steps.</a:t>
            </a:r>
          </a:p>
          <a:p/>
          <a:p>
            <a:r>
              <a:t>**Conexão com o núcleo congelado.** `sre/agent.py`.</a:t>
            </a:r>
          </a:p>
          <a:p/>
          <a:p>
            <a:r>
              <a:t>**Nuance técnica.** O model decide calls, código executa allowlist.</a:t>
            </a:r>
          </a:p>
          <a:p/>
          <a:p>
            <a:r>
              <a:t>**Erro conceitual comum.** Equacionar mais tool calls a melhor investigação.</a:t>
            </a:r>
          </a:p>
          <a:p/>
          <a:p>
            <a:r>
              <a:t>**Pergunta de checagem.** Onde está o limite que impede loop infinito?</a:t>
            </a:r>
          </a:p>
          <a:p/>
          <a:p>
            <a:r>
              <a:t>**Gancho concreto.** Precisamos ver quais tools são permitidas.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69</a:t>
            </a:r>
          </a:p>
          <a:p/>
          <a:p>
            <a:r>
              <a:t>## Slide 69 — TOOLS READ-ONLY</a:t>
            </a:r>
          </a:p>
          <a:p/>
          <a:p>
            <a:r>
              <a:t>**Onde estamos — Dia 3.** Liste query_metrics, list_trace_services, query_traces, health, changes. Explique por que list services precede trace query.</a:t>
            </a:r>
          </a:p>
          <a:p/>
          <a:p>
            <a:r>
              <a:t>**Objetivo cognitivo.** Ao final do slide, a turma deve conseguir explicar a decisão técnica associada a **tools read-only** sem recorrer a definições genéricas de agentes.</a:t>
            </a:r>
          </a:p>
          <a:p/>
          <a:p>
            <a:r>
              <a:t>**Como conduzir / o que apontar.** Aponte ausência deliberada de restart/rollback.</a:t>
            </a:r>
          </a:p>
          <a:p/>
          <a:p>
            <a:r>
              <a:t>**Conexão com o núcleo congelado.** `sre/tools/registry.py`.</a:t>
            </a:r>
          </a:p>
          <a:p/>
          <a:p>
            <a:r>
              <a:t>**Nuance técnica.** Least privilege deve existir na capability, não apenas em prompt.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tool mutável vocês adicionariam primeiro, se alguma?</a:t>
            </a:r>
          </a:p>
          <a:p/>
          <a:p>
            <a:r>
              <a:t>**Gancho concreto.** Agora observamos as tool calls/evidências acumuladas.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70</a:t>
            </a:r>
          </a:p>
          <a:p/>
          <a:p>
            <a:r>
              <a:t>## Slide 70 — REGISTRO DE TOOL CALLS</a:t>
            </a:r>
          </a:p>
          <a:p/>
          <a:p>
            <a:r>
              <a:t>**Onde estamos — Dia 3.** Explique registro em messages: assistant tool_call, tool result serializado; isso forma trajectory auditável.</a:t>
            </a:r>
          </a:p>
          <a:p/>
          <a:p>
            <a:r>
              <a:t>**Objetivo cognitivo.** Ao final do slide, a turma deve conseguir explicar a decisão técnica associada a **registro de tool calls** sem recorrer a definições genéricas de agentes.</a:t>
            </a:r>
          </a:p>
          <a:p/>
          <a:p>
            <a:r>
              <a:t>**Como conduzir / o que apontar.** Mostre que results são truncados a 16000 chars para controlar contexto.</a:t>
            </a:r>
          </a:p>
          <a:p/>
          <a:p>
            <a:r>
              <a:t>**Conexão com o núcleo congelado.** `sre/agent.py messages/tool results`.</a:t>
            </a:r>
          </a:p>
          <a:p/>
          <a:p>
            <a:r>
              <a:t>**Nuance técnica.** Observabilidade do agente é diferente de observabilidade da aplicação; ambas importam.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dados de tool call vocês logariam em produção?</a:t>
            </a:r>
          </a:p>
          <a:p/>
          <a:p>
            <a:r>
              <a:t>**Gancho concreto.** Importante: o incidente enviado não contém scenario.</a:t>
            </a:r>
          </a:p>
          <a:p/>
          <a:p>
            <a:r>
              <a:t>**Ritmo.** rápido/normal.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71</a:t>
            </a:r>
          </a:p>
          <a:p/>
          <a:p>
            <a:r>
              <a:t>## Slide 71 — INVESTIGAÇÃO SEM SCENARIO</a:t>
            </a:r>
          </a:p>
          <a:p/>
          <a:p>
            <a:r>
              <a:t>**Onde estamos — Dia 3.** Abra `Incident`: service, symptom, window_minutes. Mostre ausência de scenario/root cause.</a:t>
            </a:r>
          </a:p>
          <a:p/>
          <a:p>
            <a:r>
              <a:t>**Objetivo cognitivo.** Ao final do slide, a turma deve conseguir explicar a decisão técnica associada a **investigação sem scenario** sem recorrer a definições genéricas de agentes.</a:t>
            </a:r>
          </a:p>
          <a:p/>
          <a:p>
            <a:r>
              <a:t>**Como conduzir / o que apontar.** Explique validação adversarial: agent precisou descobrir service.name e sinais reais.</a:t>
            </a:r>
          </a:p>
          <a:p/>
          <a:p>
            <a:r>
              <a:t>**Conexão com o núcleo congelado.** `sre/schemas.py`.</a:t>
            </a:r>
          </a:p>
          <a:p/>
          <a:p>
            <a:r>
              <a:t>**Nuance técnica.** Evite data leakage de ground truth em benchmarks/labs.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Como um benchmark fica inválido se o agente recebe causa no input?</a:t>
            </a:r>
          </a:p>
          <a:p/>
          <a:p>
            <a:r>
              <a:t>**Gancho concreto.** Agora interpretamos o resultado sem exagerar causalidade.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72</a:t>
            </a:r>
          </a:p>
          <a:p/>
          <a:p>
            <a:r>
              <a:t>## Slide 72 — CAUSA PROVÁVEL VS VERIFICADA</a:t>
            </a:r>
          </a:p>
          <a:p/>
          <a:p>
            <a:r>
              <a:t>**Onde estamos — Dia 3.** Construa escada symptom→correlation→contributing factor→probable→verified root cause. Leia wording 'may be causing'.</a:t>
            </a:r>
          </a:p>
          <a:p/>
          <a:p>
            <a:r>
              <a:t>**Objetivo cognitivo.** Ao final do slide, a turma deve conseguir explicar a decisão técnica associada a **causa provável vs verificada** sem recorrer a definições genéricas de agentes.</a:t>
            </a:r>
          </a:p>
          <a:p/>
          <a:p>
            <a:r>
              <a:t>**Como conduzir / o que apontar.** Desacelere. Este é um núcleo conceitual do dia.</a:t>
            </a:r>
          </a:p>
          <a:p/>
          <a:p>
            <a:r>
              <a:t>**Conexão com o núcleo congelado.** `artifacts/sre/investigation_result.json`.</a:t>
            </a:r>
          </a:p>
          <a:p/>
          <a:p>
            <a:r>
              <a:t>**Nuance técnica.** Span lento é evidência localizada, não prova mecanismo downstream.</a:t>
            </a:r>
          </a:p>
          <a:p/>
          <a:p>
            <a:r>
              <a:t>**Erro conceitual comum.** Chamar o span mais lento de root cause verificada.</a:t>
            </a:r>
          </a:p>
          <a:p/>
          <a:p>
            <a:r>
              <a:t>**Pergunta de checagem.** Que experimento faria a afirmação ficar mais forte?</a:t>
            </a:r>
          </a:p>
          <a:p/>
          <a:p>
            <a:r>
              <a:t>**Gancho concreto.** Mesmo causa provável forte não autoriza mutação automática.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73</a:t>
            </a:r>
          </a:p>
          <a:p/>
          <a:p>
            <a:r>
              <a:t>## Slide 73 — AUTONOMIA POR RISCO</a:t>
            </a:r>
          </a:p>
          <a:p/>
          <a:p>
            <a:r>
              <a:t>**Onde estamos — Dia 3.** Apresente matriz de autonomia: read-only automático, writes reversíveis condicionais, rollback/infra com aprovação.</a:t>
            </a:r>
          </a:p>
          <a:p/>
          <a:p>
            <a:r>
              <a:t>**Objetivo cognitivo.** Ao final do slide, a turma deve conseguir explicar a decisão técnica associada a **autonomia por risco** sem recorrer a definições genéricas de agentes.</a:t>
            </a:r>
          </a:p>
          <a:p/>
          <a:p>
            <a:r>
              <a:t>**Como conduzir / o que apontar.** Explique blast radius, reversibilidade e confidence como critérios.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Autonomia é por capability, não por rótulo 'agente'.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Um restart de pod pode ser auto-safe? Em que condições?</a:t>
            </a:r>
          </a:p>
          <a:p/>
          <a:p>
            <a:r>
              <a:t>**Gancho concreto.** O núcleo escolhe HITL para remediação.</a:t>
            </a:r>
          </a:p>
          <a:p/>
          <a:p>
            <a:r>
              <a:t>**Ritmo.** 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74</a:t>
            </a:r>
          </a:p>
          <a:p/>
          <a:p>
            <a:r>
              <a:t>## Slide 74 — HUMAN-IN-THE-LOOP</a:t>
            </a:r>
          </a:p>
          <a:p/>
          <a:p>
            <a:r>
              <a:t>**Onde estamos — Dia 3.** Mostre requires_human=true e ausência de mutating tools. Explique propose→approve→execute separados.</a:t>
            </a:r>
          </a:p>
          <a:p/>
          <a:p>
            <a:r>
              <a:t>**Objetivo cognitivo.** Ao final do slide, a turma deve conseguir explicar a decisão técnica associada a **human-in-the-loop** sem recorrer a definições genéricas de agentes.</a:t>
            </a:r>
          </a:p>
          <a:p/>
          <a:p>
            <a:r>
              <a:t>**Como conduzir / o que apontar.** HITL pode ser workflow/approval, não necessariamente prompt interativo.</a:t>
            </a:r>
          </a:p>
          <a:p/>
          <a:p>
            <a:r>
              <a:t>**Conexão com o núcleo congelado.** `sre/schemas.py + tool registry`.</a:t>
            </a:r>
          </a:p>
          <a:p/>
          <a:p>
            <a:r>
              <a:t>**Nuance técnica.** Review humano precisa de evidência suficiente; senão vira rubber stamp.</a:t>
            </a:r>
          </a:p>
          <a:p/>
          <a:p>
            <a:r>
              <a:t>**Erro conceitual comum.** Tratar HITL como detalhe de UX em vez de fronteira de autoridade.</a:t>
            </a:r>
          </a:p>
          <a:p/>
          <a:p>
            <a:r>
              <a:t>**Pergunta de checagem.** Que informação precisa aparecer numa solicitação de aprovação?</a:t>
            </a:r>
          </a:p>
          <a:p/>
          <a:p>
            <a:r>
              <a:t>**Gancho concreto.** Vamos ver o output completo do SRE Agent.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75</a:t>
            </a:r>
          </a:p>
          <a:p/>
          <a:p>
            <a:r>
              <a:t>## Slide 75 — SRE AGENT OUTPUT</a:t>
            </a:r>
          </a:p>
          <a:p/>
          <a:p>
            <a:r>
              <a:t>**Onde estamos — Dia 3.** Leia só evidence summaries, probable_cause, confidence, active_incident, remediation_options, requires_human. Evite ler raw trace inteiro.</a:t>
            </a:r>
          </a:p>
          <a:p/>
          <a:p>
            <a:r>
              <a:t>**Objetivo cognitivo.** Ao final do slide, a turma deve conseguir explicar a decisão técnica associada a **sre agent output** sem recorrer a definições genéricas de agentes.</a:t>
            </a:r>
          </a:p>
          <a:p/>
          <a:p>
            <a:r>
              <a:t>**Como conduzir / o que apontar.** Conecte metric 0.2536s e trace 253758µs.</a:t>
            </a:r>
          </a:p>
          <a:p/>
          <a:p>
            <a:r>
              <a:t>**Conexão com o núcleo congelado.** `artifacts/sre/investigation_result.json`.</a:t>
            </a:r>
          </a:p>
          <a:p/>
          <a:p>
            <a:r>
              <a:t>**Nuance técnica.** Confidence é auto-relatada pelo modelo; não trate como probabilidade calibrada sem eval.</a:t>
            </a:r>
          </a:p>
          <a:p/>
          <a:p>
            <a:r>
              <a:t>**Erro conceitual comum.** Interpretar confidence 0.85 como probabilidade calibrada.</a:t>
            </a:r>
          </a:p>
          <a:p/>
          <a:p>
            <a:r>
              <a:t>**Pergunta de checagem.** 0.85 significa 85% de chance real?</a:t>
            </a:r>
          </a:p>
          <a:p/>
          <a:p>
            <a:r>
              <a:t>**Gancho concreto.** Agora usamos evidência, não confidence, na release policy.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76</a:t>
            </a:r>
          </a:p>
          <a:p/>
          <a:p>
            <a:r>
              <a:t>## Slide 76 — RELEASE POLICY</a:t>
            </a:r>
          </a:p>
          <a:p/>
          <a:p>
            <a:r>
              <a:t>**Onde estamos — Dia 3.** Abra `release/policy.py`: funcional fail/block visual/active incident. Explique decisão determinística downstream.</a:t>
            </a:r>
          </a:p>
          <a:p/>
          <a:p>
            <a:r>
              <a:t>**Objetivo cognitivo.** Ao final do slide, a turma deve conseguir explicar a decisão técnica associada a **release policy** sem recorrer a definições genéricas de agentes.</a:t>
            </a:r>
          </a:p>
          <a:p/>
          <a:p>
            <a:r>
              <a:t>**Como conduzir / o que apontar.** Aponte que confidence do LLM não decide release.</a:t>
            </a:r>
          </a:p>
          <a:p/>
          <a:p>
            <a:r>
              <a:t>**Conexão com o núcleo congelado.** `release/policy.py`.</a:t>
            </a:r>
          </a:p>
          <a:p/>
          <a:p>
            <a:r>
              <a:t>**Nuance técnica.** Policy simples é intencional para aula; produção adicionaria waivers/severity/error budget.</a:t>
            </a:r>
          </a:p>
          <a:p/>
          <a:p>
            <a:r>
              <a:t>**Erro conceitual comum.** Entregar decisão de release ao LLM.</a:t>
            </a:r>
          </a:p>
          <a:p/>
          <a:p>
            <a:r>
              <a:t>**Pergunta de checagem.** Por que active_incident basta para BLOCK aqui?</a:t>
            </a:r>
          </a:p>
          <a:p/>
          <a:p>
            <a:r>
              <a:t>**Gancho concreto.** O relatório integrado mostra como os três dias se combinam.</a:t>
            </a:r>
          </a:p>
          <a:p/>
          <a:p>
            <a:r>
              <a:t>**Ritmo.** desacelerar.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77</a:t>
            </a:r>
          </a:p>
          <a:p/>
          <a:p>
            <a:r>
              <a:t>## Slide 77 — RELATÓRIO INTEGRADO</a:t>
            </a:r>
          </a:p>
          <a:p/>
          <a:p>
            <a:r>
              <a:t>**Onde estamos — Dia 3.** Mostre release_report: functional passou, visual review, SRE active → BLOCK. Explique agregação de evidências independentes.</a:t>
            </a:r>
          </a:p>
          <a:p/>
          <a:p>
            <a:r>
              <a:t>**Objetivo cognitivo.** Ao final do slide, a turma deve conseguir explicar a decisão técnica associada a **relatório integrado** sem recorrer a definições genéricas de agentes.</a:t>
            </a:r>
          </a:p>
          <a:p/>
          <a:p>
            <a:r>
              <a:t>**Como conduzir / o que apontar.** Aponte artifact paths e persistência.</a:t>
            </a:r>
          </a:p>
          <a:p/>
          <a:p>
            <a:r>
              <a:t>**Conexão com o núcleo congelado.** `artifacts/release/release_report.md`.</a:t>
            </a:r>
          </a:p>
          <a:p/>
          <a:p>
            <a:r>
              <a:t>**Nuance técnica.** O BLOCK atual é intencional porque a evidência salva contém incidente injetado.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Visual review sozinho teria bloqueado?</a:t>
            </a:r>
          </a:p>
          <a:p/>
          <a:p>
            <a:r>
              <a:t>**Gancho concreto.** O próximo slide mostra explicitamente PASS/REVIEW/BLOCK.</a:t>
            </a:r>
          </a:p>
          <a:p/>
          <a:p>
            <a:r>
              <a:t>**Ritmo.** rápido/normal.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78</a:t>
            </a:r>
          </a:p>
          <a:p/>
          <a:p>
            <a:r>
              <a:t>## Slide 78 — DECISÃO PASS/REVIEW/BLOCK</a:t>
            </a:r>
          </a:p>
          <a:p/>
          <a:p>
            <a:r>
              <a:t>**Onde estamos — Dia 3.** Mostre policy checks validados: healthy→PASS, visual regression→REVIEW, active incident→BLOCK.</a:t>
            </a:r>
          </a:p>
          <a:p/>
          <a:p>
            <a:r>
              <a:t>**Objetivo cognitivo.** Ao final do slide, a turma deve conseguir explicar a decisão técnica associada a **decisão pass/review/block** sem recorrer a definições genéricas de agentes.</a:t>
            </a:r>
          </a:p>
          <a:p/>
          <a:p>
            <a:r>
              <a:t>**Como conduzir / o que apontar.** Explique precedence: blocker vence review.</a:t>
            </a:r>
          </a:p>
          <a:p/>
          <a:p>
            <a:r>
              <a:t>**Conexão com o núcleo congelado.** `release/policy.py`.</a:t>
            </a:r>
          </a:p>
          <a:p/>
          <a:p>
            <a:r>
              <a:t>**Nuance técnica.** Não confundir release decision com classificação do VLM.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evidência seria necessária para waiver de review?</a:t>
            </a:r>
          </a:p>
          <a:p/>
          <a:p>
            <a:r>
              <a:t>**Gancho concreto.** Grupos agora investigarão incidentes diferentes.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79</a:t>
            </a:r>
          </a:p>
          <a:p/>
          <a:p>
            <a:r>
              <a:t>## Slide 79 — EXERCÍCIO MENTORADO DIA 3</a:t>
            </a:r>
          </a:p>
          <a:p/>
          <a:p>
            <a:r>
              <a:t>**Onde estamos — Dia 3.** Apresente casos mentorados e regra: começar por sintoma, citar evidência, declarar limites, não executar mutação.</a:t>
            </a:r>
          </a:p>
          <a:p/>
          <a:p>
            <a:r>
              <a:t>**Objetivo cognitivo.** Ao final do slide, a turma deve conseguir explicar a decisão técnica associada a **exercício mentorado dia 3** sem recorrer a definições genéricas de agentes.</a:t>
            </a:r>
          </a:p>
          <a:p/>
          <a:p>
            <a:r>
              <a:t>**Como conduzir / o que apontar.** Exija hypothesis/tool/evidence/revision.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Telemetria insuficiente é resposta válida se bem justificada.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grupo provavelmente ficará com menor confiança?</a:t>
            </a:r>
          </a:p>
          <a:p/>
          <a:p>
            <a:r>
              <a:t>**Gancho concreto.** Antes de finalizar, checklist de produção generaliza o laboratório.</a:t>
            </a:r>
          </a:p>
          <a:p/>
          <a:p>
            <a:r>
              <a:t>**Ritmo.** normal.</a:t>
            </a:r>
          </a:p>
          <a:p/>
          <a:p>
            <a:r>
              <a:t>**Se estiver atrasado.** Se estiver atrasado, preserve a ideia central e a conexão com a evidência; reduza exemplos laterais.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80</a:t>
            </a:r>
          </a:p>
          <a:p/>
          <a:p>
            <a:r>
              <a:t>## Slide 80 — CHECKLIST DE PRODUÇÃO</a:t>
            </a:r>
          </a:p>
          <a:p/>
          <a:p>
            <a:r>
              <a:t>**Onde estamos — Dia 3.** Passe checklist: contracts, instrumentation, service identity, bounded tools, least privilege, audit, eval, HITL, release policy.</a:t>
            </a:r>
          </a:p>
          <a:p/>
          <a:p>
            <a:r>
              <a:t>**Objetivo cognitivo.** Ao final do slide, a turma deve conseguir explicar a decisão técnica associada a **checklist de produção** sem recorrer a definições genéricas de agentes.</a:t>
            </a:r>
          </a:p>
          <a:p/>
          <a:p>
            <a:r>
              <a:t>**Como conduzir / o que apontar.** Conecte cada item a uma falha real corrigida na validação.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Checklist não substitui threat modeling/SLO design específicos.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Qual item vocês adicionariam para o sistema real da empresa?</a:t>
            </a:r>
          </a:p>
          <a:p/>
          <a:p>
            <a:r>
              <a:t>**Gancho concreto.** Fechamos a semana pela tese unificadora.</a:t>
            </a:r>
          </a:p>
          <a:p/>
          <a:p>
            <a:r>
              <a:t>**Ritmo.** 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DO PROFESSOR — SLIDE 81</a:t>
            </a:r>
          </a:p>
          <a:p/>
          <a:p>
            <a:r>
              <a:t>## Slide 81 — FECHAMENTO DA SEMANA</a:t>
            </a:r>
          </a:p>
          <a:p/>
          <a:p>
            <a:r>
              <a:t>**Onde estamos — Dia 3.** Feche com: IA aumenta capacidade de criar/interpretar sinais; engenharia define contratos, evidencia, policies e autoridade. Faça os alunos recapitular um exemplo de cada dia.</a:t>
            </a:r>
          </a:p>
          <a:p/>
          <a:p>
            <a:r>
              <a:t>**Objetivo cognitivo.** Ao final do slide, a turma deve conseguir explicar a decisão técnica associada a **fechamento da semana** sem recorrer a definições genéricas de agentes.</a:t>
            </a:r>
          </a:p>
          <a:p/>
          <a:p>
            <a:r>
              <a:t>**Como conduzir / o que apontar.** Evite vender autonomia total como objetivo.</a:t>
            </a:r>
          </a:p>
          <a:p/>
          <a:p>
            <a:r>
              <a:t>**Conexão com o núcleo congelado.** `projeto ReleaseGuard / evidência do slide`.</a:t>
            </a:r>
          </a:p>
          <a:p/>
          <a:p>
            <a:r>
              <a:t>**Nuance técnica.** O projeto completo é menos sobre ferramentas e mais sobre fronteiras confiáveis.</a:t>
            </a:r>
          </a:p>
          <a:p/>
          <a:p>
            <a:r>
              <a:t>**Erro conceitual comum.** Confundir a abstração mostrada no slide com garantia automática de correção.</a:t>
            </a:r>
          </a:p>
          <a:p/>
          <a:p>
            <a:r>
              <a:t>**Pergunta de checagem.** Que parte do ReleaseGuard vocês levariam primeiro para produção e por quê?</a:t>
            </a:r>
          </a:p>
          <a:p/>
          <a:p>
            <a:r>
              <a:t>**Gancho concreto.** Encerrar; não abrir novo conceito.</a:t>
            </a:r>
          </a:p>
          <a:p/>
          <a:p>
            <a:r>
              <a:t>**Ritmo.** rápido/normal.</a:t>
            </a:r>
          </a:p>
          <a:p/>
          <a:p>
            <a:r>
              <a:t>**Se estiver atrasado.** Pode passar mais rápido: use 1 exemplo e siga para o próximo ponto.</a:t>
            </a:r>
          </a:p>
          <a:p/>
          <a:p>
            <a:r>
              <a:t>FONTES COMPLEMENTARES CONSIDERADAS</a:t>
            </a:r>
          </a:p>
          <a:p>
            <a:r>
              <a:t>00_guia_geral_3_dias.md; 03_dia3_implementacao.md; 03_dia3_teoria_conducao.md; 03_dia3_exercicio_mentorado.md</a:t>
            </a:r>
          </a:p>
          <a:p/>
          <a:p>
            <a:r>
              <a:t>Princípio de condução: executar/observar antes de formalizar; separar proposta probabilística de validação, evidência e policy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4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4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4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4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Relationship Id="rId4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4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RELEASEGUARD AI: QA FUNCIONAL LOW-CODE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3000" b="1" dirty="0">
                <a:solidFill>
                  <a:srgbClr val="FFFFFF"/>
                </a:solidFill>
                <a:latin typeface="Roboto"/>
              </a:rPr>
              <a:t>LOW-CODE PARA QA E SRE COM IA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260604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500" dirty="0">
                <a:solidFill>
                  <a:srgbClr val="6FBF48"/>
                </a:solidFill>
                <a:latin typeface="Roboto"/>
              </a:rPr>
              <a:t>Semana técnica baseada no núcleo validado ReleaseGuard: QA funcional, regressão visual e investigação SRE com evidências reais.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80960" y="16002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7680960" y="1600200"/>
            <a:ext cx="64008" cy="28346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7863840" y="175564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Núcleo congelado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0" y="2103120"/>
            <a:ext cx="324612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/>
              </a:rPr>
              <a:t>nucleo_releaseguard_validado.zip</a:t>
            </a:r>
            <a:endParaRPr lang="en-US" sz="13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3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/>
              </a:rPr>
              <a:t>57 testes + gates live aprovados</a:t>
            </a:r>
            <a:endParaRPr lang="en-US" sz="1350" dirty="0"/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PROBLEMA: TESTE GERADO NÃO É TESTE CONFIÁVEL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Problema de engenharia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LLMs podem gerar teste plausível e errado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Low-code facilita automação, mas não define correção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O objetivo é produzir evidência verificável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Regra da semana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/>
              </a:rPr>
              <a:t>IA propõe e interpreta. Código valida, mede e decide política.</a:t>
            </a:r>
            <a:endParaRPr lang="en-US" sz="1300" dirty="0"/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SISTEMA CENTRAL E EVIDÊNCIAS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640080" y="1325880"/>
            <a:ext cx="64008" cy="12344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FastAPI + UI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18288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e-commerce real com estados e cenários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4434840" y="1325880"/>
            <a:ext cx="64008" cy="12344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4617720" y="14813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17720" y="18288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TestPlan + HTTP + oracle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8229600" y="1325880"/>
            <a:ext cx="64008" cy="12344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8412480" y="14813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0" y="18288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Playwright + SSIM + VLM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468880" y="30632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Shape 20"/>
          <p:cNvSpPr/>
          <p:nvPr/>
        </p:nvSpPr>
        <p:spPr>
          <a:xfrm>
            <a:off x="2468880" y="3063240"/>
            <a:ext cx="64008" cy="12344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 21"/>
          <p:cNvSpPr/>
          <p:nvPr/>
        </p:nvSpPr>
        <p:spPr>
          <a:xfrm>
            <a:off x="2651760" y="32186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Dia 3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651760" y="356616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Prometheus + Jaeger + SRE Agent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30632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Shape 24"/>
          <p:cNvSpPr/>
          <p:nvPr/>
        </p:nvSpPr>
        <p:spPr>
          <a:xfrm>
            <a:off x="6583680" y="3063240"/>
            <a:ext cx="64008" cy="12344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 25"/>
          <p:cNvSpPr/>
          <p:nvPr/>
        </p:nvSpPr>
        <p:spPr>
          <a:xfrm>
            <a:off x="6766560" y="32186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Complete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66560" y="356616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PASS / REVIEW / BLOCK por política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4800600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Uma única aplicação gera os artefatos que aparecem nos guias e nos slides.</a:t>
            </a:r>
            <a:endParaRPr lang="en-US" sz="1800" dirty="0"/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DEFINIÇÃO CANÔNICA: LOW-CODE TESTING</a:t>
            </a:r>
            <a:endParaRPr lang="en-US" sz="2050" dirty="0"/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F28C00"/>
                </a:solidFill>
                <a:latin typeface="Arial"/>
              </a:rPr>
              <a:t>IDEIA 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Defina low-code testing como automação em que grande parte da composição do fluxo ocorre por abstrações visuais/configuráveis, preservando integrações e pontos de extensão em código.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Conecte imediatamente à arquitetura n8n do Dia 1: a UI reduz plumbing, mas policy/executor continuam código.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No-code e low-code são espectros; não há fronteira universal.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Em que momento um workflow low-code deixa de ser seguro se o modelo controla tudo?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DEFINIÇÃO CANÔNICA: TEST CASE E TEST ORACLE</a:t>
            </a:r>
            <a:endParaRPr lang="en-US" sz="2050" dirty="0"/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F28C00"/>
                </a:solidFill>
                <a:latin typeface="Arial"/>
              </a:rPr>
              <a:t>IDEIA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Defina test case como conjunto de precondições, entradas/ações e resultados esperados; test oracle como mecanismo que decide se o comportamento observado está correto.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Use o 409 de estoque como oracle concreto. O LLM pode propor o caso, mas o 409 vem do contrato/regra.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Oracles podem ser explícitos, parciais ou difíceis de obter; visual QA é um exemplo de oracle menos trivial.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De onde vem o 'esperado' de um teste gerado por IA?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EXECUTAR ANTES DE TEORIZAR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executar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Shape 11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observar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Shape 15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formalizar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Shape 19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aprofundar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Shape 23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aplicar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Shape 27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Text 28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avaliar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05840" y="46177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Comece pelo terminal/browser. A teoria nomeia o comportamento observado.</a:t>
            </a:r>
            <a:endParaRPr lang="en-US" sz="2200" dirty="0"/>
          </a:p>
        </p:txBody>
      </p:sp>
      <p:sp>
        <p:nvSpPr>
          <p:cNvPr id="35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REQUISITO DE ESTOQUE INSUFICIENTE</a:t>
            </a:r>
            <a:endParaRPr lang="en-US" sz="205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F28C00"/>
                </a:solidFill>
                <a:latin typeface="Arial"/>
              </a:rPr>
              <a:t>IDEIA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Leia o requisito e consulte o produto real sku-001 com stock=3. Transforme linguagem de negócio em condição testável.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Aponte que quantity&gt;3 é invalidade observável e que /cart/{id}/items documenta 409.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Não escolha 409 por convenção genérica; no curso ele é sustentado pela API congelada.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Qual é a menor sequência HTTP para provar a regra?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SCHEMA CANÔNICO DO TESTPLAN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67512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554480"/>
            <a:ext cx="6355080" cy="2834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class HttpStep(BaseModel):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name: str = Field(min_length=3)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method: Literal['GET','POST','PUT','PATCH','DELETE']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path: str = Field(pattern=r'^/.*$')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json_body: dict | None = None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expect_status: int = Field(ge=100, le=599)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class TestPlan(BaseModel):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__test__ = False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name: str = Field(min_length=3)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intent: str = Field(min_length=5)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risk: str = Field(min_length=3)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oracle: str = Field(min_length=5)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steps: list[HttpStep] = Field(min_length=1, max_length=8)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26680" y="1691640"/>
            <a:ext cx="356616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Plano validável antes de executar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Steps HTTP com status esperado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Oracle descrito fora do modelo</a:t>
            </a:r>
            <a:endParaRPr lang="en-US" sz="160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POR QUE PYDANTIC ENTRA ANTES DO HTTP</a:t>
            </a:r>
            <a:endParaRPr lang="en-US" sz="2050" dirty="0"/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261872"/>
            <a:ext cx="6446520" cy="3246120"/>
          </a:xfrm>
          <a:prstGeom prst="rect">
            <a:avLst/>
          </a:prstGeom>
          <a:solidFill>
            <a:srgbClr val="1C1C1E"/>
          </a:solidFill>
          <a:ln>
            <a:solidFill>
              <a:srgbClr val="F28C00"/>
            </a:solidFill>
          </a:ln>
        </p:spPr>
        <p:txBody>
          <a:bodyPr wrap="square" lIns="256032" rIns="219456" tIns="164592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F28C00"/>
                </a:solidFill>
                <a:latin typeface="Arial"/>
              </a:rPr>
              <a:t>IDEIA CENTRAL</a:t>
            </a:r>
          </a:p>
          <a:p>
            <a:r>
              <a:rPr sz="2500" b="1">
                <a:solidFill>
                  <a:srgbClr val="FAFAFA"/>
                </a:solidFill>
                <a:latin typeface="Arial"/>
              </a:rPr>
              <a:t>Explique Pydantic como fronteira de contrato entre componente probabilístico e software determinístico.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1261872"/>
            <a:ext cx="4315968" cy="1627632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txBody>
          <a:bodyPr wrap="square" lIns="256032" rIns="219456" tIns="164592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  <a:p>
            <a:r>
              <a:rPr sz="1700" b="0">
                <a:solidFill>
                  <a:srgbClr val="0C0C0C"/>
                </a:solidFill>
                <a:latin typeface="Arial"/>
              </a:rPr>
              <a:t>Mostre exemplos de falha: method fora do enum, status inválido, steps vazio.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063240"/>
            <a:ext cx="4315968" cy="1444752"/>
          </a:xfrm>
          <a:prstGeom prst="rect">
            <a:avLst/>
          </a:prstGeom>
          <a:solidFill>
            <a:srgbClr val="0C0C0C"/>
          </a:solidFill>
          <a:ln>
            <a:solidFill>
              <a:srgbClr val="F28C00"/>
            </a:solidFill>
          </a:ln>
        </p:spPr>
        <p:txBody>
          <a:bodyPr wrap="square" lIns="256032" rIns="219456" tIns="164592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  <a:p>
            <a:r>
              <a:rPr sz="1600" b="0">
                <a:solidFill>
                  <a:srgbClr val="BEBEC2"/>
                </a:solidFill>
                <a:latin typeface="Arial"/>
              </a:rPr>
              <a:t>Structured output e Pydantic são complementares: um orienta geração, outro rejeita o que viola schema.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773168"/>
            <a:ext cx="11045952" cy="676656"/>
          </a:xfrm>
          <a:prstGeom prst="rect">
            <a:avLst/>
          </a:prstGeom>
          <a:solidFill>
            <a:srgbClr val="F28C00"/>
          </a:solidFill>
          <a:ln>
            <a:solidFill>
              <a:srgbClr val="F28C00"/>
            </a:solidFill>
          </a:ln>
        </p:spPr>
        <p:txBody>
          <a:bodyPr wrap="square" lIns="256032" rIns="219456" tIns="164592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F28C00"/>
                </a:solidFill>
                <a:latin typeface="Arial"/>
              </a:rPr>
              <a:t/>
            </a:r>
          </a:p>
          <a:p>
            <a:r>
              <a:rPr sz="1600" b="0">
                <a:solidFill>
                  <a:srgbClr val="0C0C0C"/>
                </a:solidFill>
                <a:latin typeface="Arial"/>
              </a:rPr>
              <a:t>PERGUNTA À TURMA  ·  Se o JSON está certo, o endpoint necessariamente existe?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POLÍTICA DE MÉTODO E PATH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858000" cy="3474720"/>
          </a:xfrm>
          <a:prstGeom prst="roundRect">
            <a:avLst>
              <a:gd name="adj" fmla="val 1579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554480"/>
            <a:ext cx="6537960" cy="32004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ALLOWED_METHODS = {'GET','POST'}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ALLOWED_PREFIXES = ['/cart','/checkout','/products','/lab']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validate_plan_policy(plan, base_url):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for step in plan.steps: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if step.method not in ALLOWED_METHODS: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raise PermissionError(step.method)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if not any(step.path.startswith(p) for p in ALLOWED_PREFIXES):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raise PermissionError(step.path)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169164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Permissões ficam no código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Método e path são filtrados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Endpoint inventado não chega ao HTTP</a:t>
            </a:r>
            <a:endParaRPr lang="en-US" sz="160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EXECUTOR HTTP REAL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903720" cy="3703320"/>
          </a:xfrm>
          <a:prstGeom prst="roundRect">
            <a:avLst>
              <a:gd name="adj" fmla="val 1481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758952" y="1554480"/>
            <a:ext cx="6583680" cy="3429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run_plan(plan:TestPlan, base_url:str='http://127.0.0.1:8000', client:httpx.Client|None=None)-&gt;TestReport: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validate_plan_policy(plan,base_url)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own=client is None; client=client or httpx.Client(base_url=base_url,timeout=3.0)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context={} ; results=[]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try: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for step in plan.steps: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path=step.path.format(**context)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r=client.request(step.method,path,json=step.json_body)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body=r.json() if 'application/json' in r.headers.get('content-type','') else r.text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if step.path=='/cart' and isinstance(body,dict) and 'id' in body: context['cart_id']=body['id']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if step.path=='/checkout' and isinstance(body,dict) and 'id' in body: context['order_id']=body['id']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results.append(StepResult(step.name,step.method,path,r.status_code,step.expect_status,r.status_code==step.expect_status,body))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return TestReport(plan.name, all(s.passed for s in results), results)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863840" y="169164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• httpx executa contra FastAPI real</a:t>
            </a:r>
            <a:endParaRPr lang="en-US" sz="16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• Cada step registra status e body</a:t>
            </a:r>
            <a:endParaRPr lang="en-US" sz="16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• Relatório vira evidência reutilizável</a:t>
            </a:r>
            <a:endParaRPr lang="en-US" sz="160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DEMONSTRAÇÃO: 200 DEPOIS 409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371600"/>
            <a:ext cx="6263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"name": "checkout bloqueia quantidade acima do estoque",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"passed": true,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"steps": [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"name": "criar carrinho",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"method": "POST",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"path": "/cart",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"status": 200,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"expected_status": 200,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"passed": true,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"body": 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"id": "cart-003",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"items": []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}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},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"name": "adicionar quantidade inválida",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"method": "POST",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"path": "/cart/cart-003/items",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"status": 409,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"expected_status": 409,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"passed": true,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"body": 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"detail": "insufficient stock"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}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]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635240" y="146304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7635240" y="146304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7818120" y="16184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Step 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18120" y="196596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POST /cart → 200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35240" y="27432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Shape 14"/>
          <p:cNvSpPr/>
          <p:nvPr/>
        </p:nvSpPr>
        <p:spPr>
          <a:xfrm>
            <a:off x="7635240" y="274320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 15"/>
          <p:cNvSpPr/>
          <p:nvPr/>
        </p:nvSpPr>
        <p:spPr>
          <a:xfrm>
            <a:off x="7818120" y="289864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Step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18120" y="324612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POST /items → 409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35240" y="402336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Shape 18"/>
          <p:cNvSpPr/>
          <p:nvPr/>
        </p:nvSpPr>
        <p:spPr>
          <a:xfrm>
            <a:off x="7635240" y="402336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 19"/>
          <p:cNvSpPr/>
          <p:nvPr/>
        </p:nvSpPr>
        <p:spPr>
          <a:xfrm>
            <a:off x="7818120" y="417880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Oracle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18120" y="452628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insufficient stock esperado</a:t>
            </a:r>
            <a:endParaRPr lang="en-US" sz="1400" dirty="0"/>
          </a:p>
        </p:txBody>
      </p:sp>
      <p:sp>
        <p:nvSpPr>
          <p:cNvPr id="25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QUE A IA PODE GERAR</a:t>
            </a:r>
            <a:endParaRPr lang="en-US" sz="2050" dirty="0"/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F28C00"/>
                </a:solidFill>
                <a:latin typeface="Arial"/>
              </a:rPr>
              <a:t>IDEIA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Liste o que o LLM pode propor com segurança relativa: decomposição em steps, seleção dentro do contrato, valores contextuais e descrição de intent/risk.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Conecte ao TestPlan, não a texto livre.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Quanto mais aberta a capacidade, maior o custo de validação.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Qual campo do TestPlan vocês deixariam o modelo gerar com menos controle?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QUE A IA NÃO DEVE DECIDIR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Sequência lógica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requisito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schema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validação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Shape 20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 21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HTTP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Shape 24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 25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oracle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Shape 28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Text 29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IA ajuda a transformar requisito em plano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Código valida escopo e executa HTTP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Relatório registra evidência verificável</a:t>
            </a:r>
            <a:endParaRPr lang="en-US" sz="1600" dirty="0"/>
          </a:p>
        </p:txBody>
      </p:sp>
      <p:sp>
        <p:nvSpPr>
          <p:cNvPr id="3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OLLAMA STRUCTURED OUTPUT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949440" cy="3977640"/>
          </a:xfrm>
          <a:prstGeom prst="roundRect">
            <a:avLst>
              <a:gd name="adj" fmla="val 1379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758952" y="1554480"/>
            <a:ext cx="6629400" cy="3703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generate_plan(requirement:str, openapi:dict, base_url:str|None=None, model:str|None=None, runtime_context:dict|None=None)-&gt;TestPlan: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endpoint=(base_url or os.getenv('OLLAMA_BASE_URL','http://localhost:11434')).rstrip('/')+'/api/chat'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model=model or os.getenv('OLLAMA_TEXT_MODEL','qwen3:8b')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schema=TestPlan.model_json_schema()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prompt=f"Requisito:\n{requirement}\n\nContexto de execução:\n{json.dumps(runtime_context or {},ensure_ascii=False)}\n\nOpenAPI:\n{json.dumps(openapi,ensure_ascii=False)[:24000]}\n\nJSON Schema:\n{json.dumps(schema,ensure_ascii=False)}"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messages=[{'role':'system','content':SYSTEM_INSTRUCTIONS},{'role':'user','content':prompt}]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for _ in range(3):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payload={'model':model,'stream':False,'format':schema,'options':{'temperature':0},'messages':messages}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r=httpx.post(endpoint,json=payload,timeout=120.0); r.raise_for_status()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content=r.json()['message']['content']; plan=TestPlan.model_validate_json(content)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issues=_semantic_issues(plan,openapi)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if not issues: return plan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messages.extend([{'role':'assistant','content':content},{'role':'user','content':'Corrija estes problemas semânticos: '+'; '.join(issues)}])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raise ValueError('generated plan failed semantic validation: '+'; '.join(issues))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863840" y="1554480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Schema enviado ao modelo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Temperatura baixa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Pydantic valida antes do executor</a:t>
            </a:r>
            <a:endParaRPr lang="en-US" sz="160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PROMPT COM OPENAPI E PRODUTOS REAIS</a:t>
            </a:r>
            <a:endParaRPr lang="en-US" sz="2050" dirty="0"/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F28C00"/>
                </a:solidFill>
                <a:latin typeface="Arial"/>
              </a:rPr>
              <a:t>IDEIA 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Mostre que o prompt contém requirement, runtime context de products, OpenAPI e JSON Schema.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Explique por que contexto de execução reduz IDs/quantidades inventados.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Truncar OpenAPI em 24k chars é uma decisão pragmática do laboratório, não padrão universal.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Qual dado faltava quando o modelo gerava planos semanticamente ruins?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CORREÇÃO LIMITADA E VALIDAÇÃO SEMÂNTICA</a:t>
            </a:r>
            <a:endParaRPr lang="en-US" sz="2050" dirty="0"/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F28C00"/>
                </a:solidFill>
                <a:latin typeface="Arial"/>
              </a:rPr>
              <a:t>IDEIA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Percorra _semantic_issues: endpoint/method, status documentado, body obrigatório e placeholders disponíveis. Depois mostre as três tentativas bounded.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Conte que o núcleo realmente precisou dessa camada após gerar plano schema-valid porém errado.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Self-correction deve receber erro verificável, não feedback vago.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Quando vocês parariam de pedir correção ao modelo?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LOW-CODE NO N8N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Workflow n8n validado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86868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1. Manual 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347472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365760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2. Requirement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44652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3. Fetch OpenAPI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Shape 21"/>
          <p:cNvSpPr/>
          <p:nvPr/>
        </p:nvSpPr>
        <p:spPr>
          <a:xfrm>
            <a:off x="905256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923544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4. Fetch Products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Shape 25"/>
          <p:cNvSpPr/>
          <p:nvPr/>
        </p:nvSpPr>
        <p:spPr>
          <a:xfrm>
            <a:off x="68580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86868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5. Generate TestPlan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Chain + Ollama + Parser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Shape 29"/>
          <p:cNvSpPr/>
          <p:nvPr/>
        </p:nvSpPr>
        <p:spPr>
          <a:xfrm>
            <a:off x="347472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 30"/>
          <p:cNvSpPr/>
          <p:nvPr/>
        </p:nvSpPr>
        <p:spPr>
          <a:xfrm>
            <a:off x="365760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6.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26364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Shape 33"/>
          <p:cNvSpPr/>
          <p:nvPr/>
        </p:nvSpPr>
        <p:spPr>
          <a:xfrm>
            <a:off x="626364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Text 34"/>
          <p:cNvSpPr/>
          <p:nvPr/>
        </p:nvSpPr>
        <p:spPr>
          <a:xfrm>
            <a:off x="644652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7. Execute Plan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/qa/execute-plan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05256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Shape 37"/>
          <p:cNvSpPr/>
          <p:nvPr/>
        </p:nvSpPr>
        <p:spPr>
          <a:xfrm>
            <a:off x="905256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Text 38"/>
          <p:cNvSpPr/>
          <p:nvPr/>
        </p:nvSpPr>
        <p:spPr>
          <a:xfrm>
            <a:off x="923544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8.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3544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4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BASIC LLM CHAIN, NÃO AI AGENT</a:t>
            </a:r>
            <a:endParaRPr lang="en-US" sz="2050" dirty="0"/>
          </a:p>
        </p:txBody>
      </p:sp>
      <p:sp>
        <p:nvSpPr>
          <p:cNvPr id="42" name="Text 40"/>
          <p:cNvSpPr/>
          <p:nvPr/>
        </p:nvSpPr>
        <p:spPr>
          <a:xfrm>
            <a:off x="502920" y="59893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n8n Basic LLM Chain: docs.n8n.io/integrations/builtin/cluster-nodes/root-nodes/n8n-nodes-langchain.chainllm</a:t>
            </a:r>
            <a:endParaRPr lang="en-US" sz="650" dirty="0"/>
          </a:p>
        </p:txBody>
      </p:sp>
      <p:sp>
        <p:nvSpPr>
          <p:cNvPr id="45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F28C00"/>
                </a:solidFill>
                <a:latin typeface="Arial"/>
              </a:rPr>
              <a:t>IDEIA CENTRAL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Defenda Basic LLM Chain: a tarefa é mapping contexto→estrutura, não seleção autônoma de ferramentas.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Compare com AI Agent: agent faria sentido quando modelo precisa escolher tools iterativamente, como no Dia 3.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Escolher 'agent' por moda aumenta complexidade desnecessária.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 propriedade do problema faria vocês trocarem Chain por Agent?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WORKFLOW N8N VALIDADO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Workflow n8n validado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86868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1. Manual 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347472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365760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2. Requirement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44652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3. Fetch OpenAPI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Shape 21"/>
          <p:cNvSpPr/>
          <p:nvPr/>
        </p:nvSpPr>
        <p:spPr>
          <a:xfrm>
            <a:off x="905256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923544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4. Fetch Products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Shape 25"/>
          <p:cNvSpPr/>
          <p:nvPr/>
        </p:nvSpPr>
        <p:spPr>
          <a:xfrm>
            <a:off x="68580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86868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5. Generate TestPlan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Chain + Ollama + Parser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Shape 29"/>
          <p:cNvSpPr/>
          <p:nvPr/>
        </p:nvSpPr>
        <p:spPr>
          <a:xfrm>
            <a:off x="347472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 30"/>
          <p:cNvSpPr/>
          <p:nvPr/>
        </p:nvSpPr>
        <p:spPr>
          <a:xfrm>
            <a:off x="365760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6.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26364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Shape 33"/>
          <p:cNvSpPr/>
          <p:nvPr/>
        </p:nvSpPr>
        <p:spPr>
          <a:xfrm>
            <a:off x="626364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Text 34"/>
          <p:cNvSpPr/>
          <p:nvPr/>
        </p:nvSpPr>
        <p:spPr>
          <a:xfrm>
            <a:off x="644652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7. Execute Plan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/qa/execute-plan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05256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Shape 37"/>
          <p:cNvSpPr/>
          <p:nvPr/>
        </p:nvSpPr>
        <p:spPr>
          <a:xfrm>
            <a:off x="905256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Text 38"/>
          <p:cNvSpPr/>
          <p:nvPr/>
        </p:nvSpPr>
        <p:spPr>
          <a:xfrm>
            <a:off x="923544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8.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3544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4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ONDE OBSERVAR CADA NODE</a:t>
            </a:r>
            <a:endParaRPr lang="en-US" sz="2050" dirty="0"/>
          </a:p>
        </p:txBody>
      </p:sp>
      <p:sp>
        <p:nvSpPr>
          <p:cNvPr id="4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F28C00"/>
                </a:solidFill>
                <a:latin typeface="Arial"/>
              </a:rPr>
              <a:t>IDEIA CENTRAL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Oriente a inspeção de execution data node a node. Mostre que o output do parser vem em $json.output e Validation desembrulha o plano.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Aponte final 200/409 no Report.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Debug low-code exige saber inspecionar dados, não só olhar nodes verdes.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Se Execute Plan retorna 422, qual node você inspeciona primeiro?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SELF-HEALING: ÚTIL OU PERIGOSO?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Sequência lógica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requisito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schema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validação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Shape 20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 21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HTTP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Shape 24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 25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oracle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Shape 28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Text 29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Auto-reparo pode reduzir manutenção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Também pode mascarar regressão legítima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Human review protege baseline e oracle</a:t>
            </a:r>
            <a:endParaRPr lang="en-US" sz="1600" dirty="0"/>
          </a:p>
        </p:txBody>
      </p:sp>
      <p:sp>
        <p:nvSpPr>
          <p:cNvPr id="3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FAILURE MODES DO DIA 1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5166360" cy="640080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96112" y="148132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Failure mode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1417320"/>
            <a:ext cx="5166360" cy="640080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6062472" y="148132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Controle no núcleo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205740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96112" y="212140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Endpoint inventado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205740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6062472" y="212140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policy.py + OpenAPI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269748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96112" y="276148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JSON inválido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269748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062472" y="276148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Structured Output + Pydantic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333756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96112" y="340156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Oracle fraco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89320" y="333756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6062472" y="340156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regra de negócio + status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397764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96112" y="404164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Self-healing excessivo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89320" y="397764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6062472" y="404164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review humano</a:t>
            </a:r>
            <a:endParaRPr lang="en-US" sz="1150" dirty="0"/>
          </a:p>
        </p:txBody>
      </p:sp>
      <p:sp>
        <p:nvSpPr>
          <p:cNvPr id="31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COMPARAÇÃO: CÓDIGO, LOW-CODE E AGENTE</a:t>
            </a:r>
            <a:endParaRPr lang="en-US" sz="2050" dirty="0"/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F28C00"/>
                </a:solidFill>
                <a:latin typeface="Arial"/>
              </a:rPr>
              <a:t>IDEIA 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Compare código puro, low-code e agente pelas dimensões: controle, flexibilidade, auditabilidade, manutenção e autonomia.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Evite ranking universal. Mostre por que o laboratório usa código + n8n em vez de escolher um só.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Arquitetura híbrida costuma ser mais realista.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Qual abordagem vocês escolheriam para um conjunto fixo de regressões de API?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EXERCÍCIO MENTORADO DIA 1</a:t>
            </a:r>
            <a:endParaRPr lang="en-US" sz="2050" dirty="0"/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F28C00"/>
                </a:solidFill>
                <a:latin typeface="Arial"/>
              </a:rPr>
              <a:t>IDEIA CENTRAL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8 riscos, 8 grupos: carrinho stateful; boundary de estoque; checkout vazio; pagamento divergente; payment timeout; inventory 500; host/método proibido; plano Ollama.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Entregar TestPlan válido, oracle justificado, HTTP real, report.json e uma limitação identificada.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Criar em student_work/day1/&lt;grupo&gt;. Não alterar app/, schemas, policy, executor ou generate_plan.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Qual caso exige mais estado? Qual exige mais controle de policy?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CRITÉRIOS DE AVALIAÇÃO</a:t>
            </a:r>
            <a:endParaRPr lang="en-US" sz="2050" dirty="0"/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F28C00"/>
                </a:solidFill>
                <a:latin typeface="Arial"/>
              </a:rPr>
              <a:t>IDEIA CENTRAL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Oracle fundamentado 25% · plano mínimo 20% · execução HTTP real 20% · estado/placeholders 15%.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Policy/segurança 10% · explicação técnica 10%. “Funcionou” não basta: é preciso provar por que passou.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A avaliação privilegia decisão técnica, evidência e rastreabilidade — não memorização nem adaptação do núcleo.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Como provar que o teste não passou por acidente?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FECHAMENTO DIA 1</a:t>
            </a:r>
            <a:endParaRPr lang="en-US" sz="205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F28C00"/>
                </a:solidFill>
                <a:latin typeface="Arial"/>
              </a:rPr>
              <a:t>IDEIA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Recapitule em uma linha: LLM propõe; schema/policy validam; HTTP mede; oracle decide. Preserve a evidência functional_report.json como ponte para complete report.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DECISÃO DE ENGENHARIA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Não faça recap de agentes básicos.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F28C00"/>
                </a:solidFill>
                <a:latin typeface="Arial"/>
              </a:rPr>
              <a:t>LIMITE / CUIDADO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Introduza o problema do próximo dia: status HTTP é um oracle simples; UI é muito mais ambígua.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F28C00"/>
          </a:solidFill>
          <a:ln w="15240">
            <a:solidFill>
              <a:srgbClr val="F2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Como escreveriam assert para dizer que uma página 'parece correta'?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2: REGRESSÃO VISUAL COM VISUAL AI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REGRESSÃO VISUAL COM VISUAL AI</a:t>
            </a:r>
            <a:endParaRPr lang="en-US" sz="3000" dirty="0"/>
          </a:p>
        </p:txBody>
      </p:sp>
      <p:pic>
        <p:nvPicPr>
          <p:cNvPr id="10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988820"/>
            <a:ext cx="329184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283464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Browser real → screenshot → diff → SSIM → VLM → política visual</a:t>
            </a:r>
            <a:endParaRPr lang="en-US" sz="170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PROBLEMA: IMAGEM DIFERENTE ≠ BUG</a:t>
            </a:r>
            <a:endParaRPr lang="en-US" sz="2050" dirty="0"/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Use exemplos: timestamp, fonte, antialiasing versus CTA desaparecido. Explique false positives e false negatives desde o início.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Aponte browser real + métricas + VLM como camadas diferentes.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Oracle visual é política contextual, não um threshold universal.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Uma mudança de 1% dos pixels pode bloquear release?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DEFINIÇÃO CANÔNICA: VISUAL REGRESSION</a:t>
            </a:r>
            <a:endParaRPr lang="en-US" sz="2050" dirty="0"/>
          </a:p>
        </p:txBody>
      </p:sp>
      <p:sp>
        <p:nvSpPr>
          <p:cNvPr id="3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Defina visual regression testing como comparação automatizada do estado renderizado contra referência para detectar mudanças inesperadas relevantes.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Inclua que baseline precisa ser versionada e contextualizada por viewport/ambiente.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Visual regression é mais amplo que pixel-perfect.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Quem aprova uma nova baseline?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DEFINIÇÃO: BASELINE, CURRENT E DIFF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Métrica quantifica diferença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Score agregado pode esconder região crítica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Diff comunica o problema para humanos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imagem != bug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score != correção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triagem != policy</a:t>
            </a:r>
            <a:endParaRPr lang="en-US" sz="150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UI REAL DO RELEASEGUARD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Captura vem de /store/checkout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Playwright usa Chromium gerenciado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Baseline é artefato versionável</a:t>
            </a:r>
            <a:endParaRPr lang="en-US" sz="1600" dirty="0"/>
          </a:p>
        </p:txBody>
      </p:sp>
      <p:sp>
        <p:nvSpPr>
          <p:cNvPr id="13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PLAYWRIGHT COMO CÂMERA DETERMINÍSTICA</a:t>
            </a:r>
            <a:endParaRPr lang="en-US" sz="2050" dirty="0"/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Explique Playwright como controle de browser, viewport e timing. Mostre 1280×800, scale 1, networkidle.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Destaque Chromium gerenciado e o bug anterior de /usr/bin/chromium no macOS.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Mesmo browser controlado não elimina todo nondeterminism (fonts, GPU, OS).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 variáveis do ambiente podem mudar pixels sem mudar produto?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CAPTURA DE BASELINE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Captura vem de /store/checkout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Playwright usa Chromium gerenciado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Baseline é artefato versionável</a:t>
            </a:r>
            <a:endParaRPr lang="en-US" sz="1600" dirty="0"/>
          </a:p>
        </p:txBody>
      </p:sp>
      <p:sp>
        <p:nvSpPr>
          <p:cNvPr id="13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CENÁRIO VISUAL CONTROLADO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Cenário controlado altera HTML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O botão muda de posição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diferença é pequena, mas localizada</a:t>
            </a:r>
            <a:endParaRPr lang="en-US" sz="1600" dirty="0"/>
          </a:p>
        </p:txBody>
      </p:sp>
      <p:sp>
        <p:nvSpPr>
          <p:cNvPr id="13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CAPTURA CURRENT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Cenário controlado altera HTML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O botão muda de posição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diferença é pequena, mas localizada</a:t>
            </a:r>
            <a:endParaRPr lang="en-US" sz="1600" dirty="0"/>
          </a:p>
        </p:txBody>
      </p:sp>
      <p:sp>
        <p:nvSpPr>
          <p:cNvPr id="13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PIXEL DIFF: O PRIMEIRO SINAL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8"/>
          <p:cNvSpPr/>
          <p:nvPr/>
        </p:nvSpPr>
        <p:spPr>
          <a:xfrm>
            <a:off x="8229600" y="1417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9"/>
          <p:cNvSpPr/>
          <p:nvPr/>
        </p:nvSpPr>
        <p:spPr>
          <a:xfrm>
            <a:off x="8412480" y="1572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Pixel ratio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1920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0.01148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2560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2"/>
          <p:cNvSpPr/>
          <p:nvPr/>
        </p:nvSpPr>
        <p:spPr>
          <a:xfrm>
            <a:off x="8229600" y="2560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3"/>
          <p:cNvSpPr/>
          <p:nvPr/>
        </p:nvSpPr>
        <p:spPr>
          <a:xfrm>
            <a:off x="8412480" y="2715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SSIM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063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0.98693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0" y="3703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6"/>
          <p:cNvSpPr/>
          <p:nvPr/>
        </p:nvSpPr>
        <p:spPr>
          <a:xfrm>
            <a:off x="8229600" y="3703320"/>
            <a:ext cx="64008" cy="9601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7"/>
          <p:cNvSpPr/>
          <p:nvPr/>
        </p:nvSpPr>
        <p:spPr>
          <a:xfrm>
            <a:off x="8412480" y="3858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BBox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42062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[285, 237, 567, 297]</a:t>
            </a:r>
            <a:endParaRPr lang="en-US" sz="1250" dirty="0"/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BOUNDING BOX: ONDE MUDOU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8"/>
          <p:cNvSpPr/>
          <p:nvPr/>
        </p:nvSpPr>
        <p:spPr>
          <a:xfrm>
            <a:off x="8229600" y="1417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9"/>
          <p:cNvSpPr/>
          <p:nvPr/>
        </p:nvSpPr>
        <p:spPr>
          <a:xfrm>
            <a:off x="8412480" y="1572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Pixel ratio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1920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0.01148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2560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2"/>
          <p:cNvSpPr/>
          <p:nvPr/>
        </p:nvSpPr>
        <p:spPr>
          <a:xfrm>
            <a:off x="8229600" y="2560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3"/>
          <p:cNvSpPr/>
          <p:nvPr/>
        </p:nvSpPr>
        <p:spPr>
          <a:xfrm>
            <a:off x="8412480" y="2715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SSIM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063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0.98693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0" y="3703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6"/>
          <p:cNvSpPr/>
          <p:nvPr/>
        </p:nvSpPr>
        <p:spPr>
          <a:xfrm>
            <a:off x="8229600" y="3703320"/>
            <a:ext cx="64008" cy="9601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7"/>
          <p:cNvSpPr/>
          <p:nvPr/>
        </p:nvSpPr>
        <p:spPr>
          <a:xfrm>
            <a:off x="8412480" y="3858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BBox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42062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[285, 237, 567, 297]</a:t>
            </a:r>
            <a:endParaRPr lang="en-US" sz="1250" dirty="0"/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SSIM: SIMILARIDADE ESTRUTURAL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SSIM = luminância × contraste × estrutura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9"/>
          <p:cNvSpPr/>
          <p:nvPr/>
        </p:nvSpPr>
        <p:spPr>
          <a:xfrm>
            <a:off x="822960" y="2057400"/>
            <a:ext cx="64008" cy="14173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1005840" y="221284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Luminância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Comparação do brilho médio das janelas locais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4434840" y="2057400"/>
            <a:ext cx="64008" cy="14173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4617720" y="221284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Contraste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17720" y="25603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Compara a variação de intensidade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7"/>
          <p:cNvSpPr/>
          <p:nvPr/>
        </p:nvSpPr>
        <p:spPr>
          <a:xfrm>
            <a:off x="8046720" y="2057400"/>
            <a:ext cx="64008" cy="14173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8229600" y="221284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Estrutura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0" y="25603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Compara padrões locais normalizados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No artefato validado: SSIM 0.9869 com mudança localizada no CTA.</a:t>
            </a:r>
            <a:endParaRPr lang="en-US" sz="1800" dirty="0"/>
          </a:p>
        </p:txBody>
      </p:sp>
      <p:sp>
        <p:nvSpPr>
          <p:cNvPr id="25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A MATEMÁTICA INTUITIVA DO SSIM</a:t>
            </a:r>
            <a:endParaRPr lang="en-US" sz="2050" dirty="0"/>
          </a:p>
        </p:txBody>
      </p:sp>
      <p:sp>
        <p:nvSpPr>
          <p:cNvPr id="25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Mostre l(x,y), c(x,y), s(x,y) e produto. Explique médias, variâncias e covariância intuitivamente; C1/C2 estabilizam divisões.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Conecte data_range=255 ao grayscale 8-bit do código.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scikit-image calcula janelas locais e agrega; parâmetros de window/channel importam em outros casos.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Por que converter para grayscale pode perder um tipo de regressão?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SCORE GLOBAL E BUG LOCALIZADO</a:t>
            </a:r>
            <a:endParaRPr lang="en-US" sz="2050" dirty="0"/>
          </a:p>
        </p:txBody>
      </p:sp>
      <p:sp>
        <p:nvSpPr>
          <p:cNvPr id="25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Confronte: SSIM 0.9869 alto, mas CTA claramente deslocado. Essa é a ideia-chave do Dia 2.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Aponte bbox e CTA.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Small critical region pode ter impacto de negócio desproporcional ao score global.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 política regional vocês criariam para CTA?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EVIDÊNCIA REAL VALIDADA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8"/>
          <p:cNvSpPr/>
          <p:nvPr/>
        </p:nvSpPr>
        <p:spPr>
          <a:xfrm>
            <a:off x="8229600" y="1417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9"/>
          <p:cNvSpPr/>
          <p:nvPr/>
        </p:nvSpPr>
        <p:spPr>
          <a:xfrm>
            <a:off x="8412480" y="1572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Pixel ratio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1920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0.01148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2560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2"/>
          <p:cNvSpPr/>
          <p:nvPr/>
        </p:nvSpPr>
        <p:spPr>
          <a:xfrm>
            <a:off x="8229600" y="2560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3"/>
          <p:cNvSpPr/>
          <p:nvPr/>
        </p:nvSpPr>
        <p:spPr>
          <a:xfrm>
            <a:off x="8412480" y="2715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SSIM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063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0.98693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0" y="3703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6"/>
          <p:cNvSpPr/>
          <p:nvPr/>
        </p:nvSpPr>
        <p:spPr>
          <a:xfrm>
            <a:off x="8229600" y="3703320"/>
            <a:ext cx="64008" cy="9601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7"/>
          <p:cNvSpPr/>
          <p:nvPr/>
        </p:nvSpPr>
        <p:spPr>
          <a:xfrm>
            <a:off x="8412480" y="3858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BBox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42062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[285, 237, 567, 297]</a:t>
            </a:r>
            <a:endParaRPr lang="en-US" sz="1250" dirty="0"/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DIFF COMO ARTEFATO DE COMUNICAÇÃO</a:t>
            </a:r>
            <a:endParaRPr lang="en-US" sz="2050" dirty="0"/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Abra diff.png e mostre contraste aumentado 4×. Explique que diff facilita review humano e também alimenta o VLM.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Diferencie raw difference de heatmap semântico.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Artefatos visuais devem ser persistidos para revisão/auditoria.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 informação um VLM poderia extrair do diff?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VLM COMO TRIADOR VISUAL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371600"/>
            <a:ext cx="6263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"change_type": "button_shift",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"severity": "low",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"affected_region": "[285, 237, 567, 297]",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"evidence": [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"Visible button shift from baseline to current image: the blue 'Finalizar compra' button in baseline (image 1) is positioned differently in current (image 2), with a noticeable horizontal displacement. The metrics confirm this as pixel_change_ratio=0.0114814453125 and SSIM=0.9869284082954217 indicate minimal visual change but detectable shift in button position."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],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"recommendation": "review"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26680" y="173736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Qwen3-VL recebeu baseline/current/diff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Saída estruturada por schema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recommendation=review, não decisão final</a:t>
            </a:r>
            <a:endParaRPr lang="en-US" sz="160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PROMPT MULTIMODAL</a:t>
            </a:r>
            <a:endParaRPr lang="en-US" sz="205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Mostre prompt /no_think, ordem das imagens, exigência de citar shift/métricas e proibição de inferir functional correctness.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Explique images base64 no formato nativo Ollama e format=schema.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A correção do payload foi necessária após uma falha real com formato OpenAI-style.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 tipo de erro surgiria se a ordem das imagens fosse ambígua?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TRIAGEM ESTRUTURADA</a:t>
            </a:r>
            <a:endParaRPr lang="en-US" sz="205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Leia o JSON real: button_shift, low, bbox, evidence, review. Pergunte se concordam com severity.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Explique que disagreement humano não invalida pipeline; revela que severity é política/contexto.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Structured output facilita downstream, mas semântica continua probabilística.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O que a saída não consegue provar?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QUE O VLM NÃO DECIDE</a:t>
            </a:r>
            <a:endParaRPr lang="en-US" sz="205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Liste fronteiras: não decide functional correctness, não atualiza baseline, não altera release policy sozinho.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Conecte ao Dia 1: modelo propõe/interpreta, policy decide.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Separar diagnosis from action é padrão transversal da semana.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 evidência adicional seria necessária para dizer que CTA deslocado quebra conversão?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POLÍTICAS VISUAIS: ACCEPT/REVIEW/BLOCK</a:t>
            </a:r>
            <a:endParaRPr lang="en-US" sz="2050" dirty="0"/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Explique três estados: accept para mudança tolerada, review para ambiguidade/impacto humano, block para regra crítica clara.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Mostre que complete report deriva visual.policy='review' quando há mudança e triage review.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Policy deve considerar região/severidade/branch, não só VLM.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Quem pode conceder waiver de uma regressão visual?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CONTEÚDO DINÂMICO E MÁSCARAS</a:t>
            </a:r>
            <a:endParaRPr lang="en-US" sz="2050" dirty="0"/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Explique dynamic regions: timestamps, preços voláteis, IDs. Máscara exclui ou flexibiliza comparação de regiões conhecidas.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Diferencie máscara de 'ignorar tudo que muda'.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Mask muito ampla aumenta false negatives.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Qual dado dinâmico vocês mascarariam e qual manteriam?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FALSE POSITIVES E FALSE NEGATIVES</a:t>
            </a:r>
            <a:endParaRPr lang="en-US" sz="2050" dirty="0"/>
          </a:p>
        </p:txBody>
      </p:sp>
      <p:sp>
        <p:nvSpPr>
          <p:cNvPr id="3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Defina FP: ferramenta acusa regressão aceitável; FN: aceita regressão relevante. Mostre que reduzir um pode aumentar outro.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Use CTA pequeno como exemplo de FN potencial com threshold global alto.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Não existe threshold universal ótimo.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Qual erro é mais caro no checkout?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BASELINE POLLUTION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Browser real gera screenshots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Comparação visual mede diferença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VLM classifica sem decidir release sozinho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imagem != bug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score != correção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triagem != policy</a:t>
            </a:r>
            <a:endParaRPr lang="en-US" sz="150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EXERCÍCIO MENTORADO DIA 2</a:t>
            </a:r>
            <a:endParaRPr lang="en-US" sz="2050" dirty="0"/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8 variações: CTA deslocado; CTA ausente; conteúdo dinâmico; cor; viewport; fonte/rasterização; região crítica; desacordo VLM × threshold.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Entregar baseline, current, diff, metrics.json, policy e justificativa de false positive/negative.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Trabalhar em student_work/day2/&lt;grupo&gt;; não alterar compare.py, vlm_triage.py nem o estado do núcleo.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Qual caso tem maior risco de falso negativo?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RUBRICA VISUAL</a:t>
            </a:r>
            <a:endParaRPr lang="en-US" sz="2050" dirty="0"/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Policy alinhada ao risco 25% · captura reproduzível 20% · métricas bem interpretadas 20%.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FP/FN 15% · evidência visual 10% · explicação 10%. Score alto não compensa uma policy indefensável.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Registrar viewport, browser, scale e cenário. Sem ambiente controlado, a comparação não é reproduzível.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Como o grupo provará que o ambiente foi controlado?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FECHAMENTO DIA 2</a:t>
            </a:r>
            <a:endParaRPr lang="en-US" sz="2050" dirty="0"/>
          </a:p>
        </p:txBody>
      </p:sp>
      <p:sp>
        <p:nvSpPr>
          <p:cNvPr id="3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D0208C"/>
                </a:solidFill>
                <a:latin typeface="Arial"/>
              </a:rPr>
              <a:t>IDEIA CENTRAL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Recapitule: Playwright mede estado real; pixel/SSIM localizam/quantificam; VLM interpreta; policy governa.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DECISÃO DE ENGENHARIA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Faça ponte para produção: amanhã o input não será screenshot, mas sintoma operacional.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D0208C"/>
                </a:solidFill>
                <a:latin typeface="Arial"/>
              </a:rPr>
              <a:t>LIMITE / CUIDADO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Preserve artifacts/visual para release report.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D0208C"/>
          </a:solidFill>
          <a:ln w="15240">
            <a:solidFill>
              <a:srgbClr val="D02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Em produção, que sinal substitui 'current.png' quando o problema é latência?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3: ASSISTENTE SRE INTELIGENTE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ASSISTENTE SRE INTELIGENTE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Investigação com métricas, traces e ferramentas read-only — sem receber o nome do cenário.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92440" y="1645920"/>
            <a:ext cx="3154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8092440" y="1645920"/>
            <a:ext cx="64008" cy="27432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8275320" y="180136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Evidência final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2148840"/>
            <a:ext cx="2834640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payment.request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253758 µs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requires_human=true</a:t>
            </a:r>
            <a:endParaRPr lang="en-US" sz="1400" dirty="0"/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PROBLEMA: INVESTIGAR SEM INVENTAR RCA</a:t>
            </a:r>
            <a:endParaRPr lang="en-US" sz="2050" dirty="0"/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Explique que LLM consegue produzir narrativa causal plausível mesmo sem dados. Em SRE, plausibilidade sem telemetria é perigosa.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Use contraste 'logs no prompt' versus investigação iterativa.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RCA é processo, não gênero textual.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Como diferenciar explicação convincente de explicação sustentada?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DEFINIÇÃO CANÔNICA: OBSERVABILIDADE</a:t>
            </a:r>
            <a:endParaRPr lang="en-US" sz="2050" dirty="0"/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Defina observability operacionalmente: capacidade de inferir estados internos a partir de sinais externos úteis para investigação.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Diferencie monitoring como checks conhecidos sem fazer oposição absoluta.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Ferramenta ≠ observabilidade; qualidade de instrumentação importa.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Ter Prometheus e Jaeger instalados garante observabilidade?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MÉTRICAS, LOGS E TRACES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Sinal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6016752" y="1481328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Função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103120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Métricas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6016752" y="2103120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tendência e magnitude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724912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Logs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016752" y="2724912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evento textual e detalhe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346704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Traces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6016752" y="3346704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caminho e duração por request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968496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SLO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6016752" y="3968496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limite operacional aceitável</a:t>
            </a:r>
            <a:endParaRPr lang="en-US" sz="1150" dirty="0"/>
          </a:p>
        </p:txBody>
      </p:sp>
      <p:sp>
        <p:nvSpPr>
          <p:cNvPr id="31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RED E USE</a:t>
            </a:r>
            <a:endParaRPr lang="en-US" sz="2050" dirty="0"/>
          </a:p>
        </p:txBody>
      </p:sp>
      <p:sp>
        <p:nvSpPr>
          <p:cNvPr id="31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Defina RED para serviços e USE para recursos. Mapeie REQUESTS/DURATION do núcleo a RED.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Diferencie utilization e saturation.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Heurísticas não substituem SLO.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CPU 90% significa incidente do usuário?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SLI, SLO E ERROR BUDGET</a:t>
            </a:r>
            <a:endParaRPr lang="en-US" sz="2050" dirty="0"/>
          </a:p>
        </p:txBody>
      </p:sp>
      <p:sp>
        <p:nvSpPr>
          <p:cNvPr id="31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Defina SLI, SLO, error budget e diferencie SLA. Use exemplo hipotético de % checkouts abaixo de 300ms; diga explicitamente que núcleo não implementa motor completo de SLO.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Explique por que 100% nem sempre é objetivo racional.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Um único request lento não necessariamente viola SLO.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 janela e indicador escolheriam?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FALHA REAL: PAYMENT_LATENCY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64008" cy="11887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Normal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443484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payment ≈ 0.002638 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288036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777240" y="2880360"/>
            <a:ext cx="64008" cy="11887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960120" y="303580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Cenário ativo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383280"/>
            <a:ext cx="443484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payment_latency ≈ 0.257617 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0760" y="1691640"/>
            <a:ext cx="448056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falha é real na aplicação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evidência aparece em métricas e traces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O agente recebe sintoma, não cenário</a:t>
            </a:r>
            <a:endParaRPr lang="en-US" sz="1600" dirty="0"/>
          </a:p>
        </p:txBody>
      </p:sp>
      <p:sp>
        <p:nvSpPr>
          <p:cNvPr id="20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MÉTRICA REAL EXPOSTA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21792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554480"/>
            <a:ext cx="5897880" cy="21031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releaseguard_dependency_duration_seconds_sum{dependency="payment_provider"}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→ 0.25361775000055786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releaseguard target: 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0920" y="1691640"/>
            <a:ext cx="347472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Prometheus consulta evidência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query não contém a resposta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Labels conectam dependência e janela</a:t>
            </a:r>
            <a:endParaRPr lang="en-US" sz="160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PROMETHEUS COMO FONTE DE EVIDÊNCIA</a:t>
            </a:r>
            <a:endParaRPr lang="en-US" sz="205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Abra /targets: releaseguard UP. Depois PromQL para dependency sum/count.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Explique scrape interval 5s, labels e HTTP API usada pelo agente.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Aborde cardinalidade: labels com IDs explodem séries.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Por que agente consulta Prometheus API em vez de /metrics bruto?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OPENTELEMETRY NO FASTAPI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85800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554480"/>
            <a:ext cx="6537960" cy="2834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configure_tracing():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global _configured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_configured: return trace.get_tracer('releaseguard')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provider=TracerProvider(resource=Resource.create({'service.name':'releaseguard'})); trace.set_tracer_provider(provider)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endpoint=os.getenv('OTEL_EXPORTER_OTLP_ENDPOINT')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endpoint: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from opentelemetry.exporter.otlp.proto.http.trace_exporter import OTLPSpanExporter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provider.add_span_processor(BatchSpanProcessor(OTLPSpanExporter(endpoint=endpoint.rstrip('/')+'/v1/traces')))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_configured=True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return trace.get_tracer('releaseguard')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164592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Resource define service.name=releaseguard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Exporter OTLP envia para Jaeger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Spans customizados carregam atributos</a:t>
            </a:r>
            <a:endParaRPr lang="en-US" sz="160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JAEGER E TRACES DISTRIBUÍDOS</a:t>
            </a:r>
            <a:endParaRPr lang="en-US" sz="2050" dirty="0"/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Defina trace/span e abra serviço releaseguard no Jaeger. Mostre operações checkout.create/payment.request.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Explique parent/child e context propagation como conceito, mesmo que laboratório tenha spans simples.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Trace mostra onde tempo foi observado, não causa física automaticamente.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Qual span mais chama atenção no incidente?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SPAN PAYMENT.REQUEST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Jaeger service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releaseguard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274320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777240" y="274320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960120" y="289864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Span normal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24612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payment.request ≈ 865 µs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777240" y="406908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960120" y="422452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Span degradado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57200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payment.request ≈ 253758 µs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438912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Trace individualiza a requisição lenta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Span mostra a dependência provável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Ainda não é causa verificada absoluta</a:t>
            </a:r>
            <a:endParaRPr lang="en-US" sz="1600" dirty="0"/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HIPÓTESE ANTES DA TOOL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Agente recebe sintoma, não cenário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Tool calls read-only coletam evidência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Conclusão é causa provável com confiança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sintoma != causa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trace != RCA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mitigação != execução</a:t>
            </a:r>
            <a:endParaRPr lang="en-US" sz="150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TOOL CALLING SRE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758952" y="1554480"/>
            <a:ext cx="6446520" cy="32918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TOOL_SPECS = [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query_metrics(query)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list_trace_services()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query_traces(service)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get_service_health()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get_recent_changes()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execute(name, args, urls):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# allowlist: nenhuma tool mutável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if name == 'query_metrics': ...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if name == 'query_traces': ...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raise ValueError('tool not allowlisted')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Tools read-only: métricas, traces, health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Agente registra tool calls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Input não contém scenario=payment_latency</a:t>
            </a:r>
            <a:endParaRPr lang="en-US" sz="160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TOOLS READ-ONLY</a:t>
            </a:r>
            <a:endParaRPr lang="en-US" sz="205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Liste query_metrics, list_trace_services, query_traces, health, changes. Explique por que list services precede trace query.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Aponte ausência deliberada de restart/rollback.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Least privilege deve existir na capability, não apenas em prompt.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 tool mutável vocês adicionariam primeiro, se alguma?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REGISTRO DE TOOL CALLS</a:t>
            </a:r>
            <a:endParaRPr lang="en-US" sz="205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Explique registro em messages: assistant tool_call, tool result serializado; isso forma trajectory auditável.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Mostre que results são truncados a 16000 chars para controlar contexto.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Observabilidade do agente é diferente de observabilidade da aplicação; ambas importam.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 dados de tool call vocês logariam em produção?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INVESTIGAÇÃO SEM SCENARIO</a:t>
            </a:r>
            <a:endParaRPr lang="en-US" sz="2050" dirty="0"/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Abra Incident: service, symptom, window_minutes. Mostre ausência de scenario/root cause.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Explique validação adversarial: agent precisou descobrir service.name e sinais reais.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Evite data leakage de ground truth em benchmarks/labs.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Como um benchmark fica inválido se o agente recebe causa no input?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CAUSA PROVÁVEL VS VERIFICADA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2064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Afirmação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97880" y="1417320"/>
            <a:ext cx="512064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5971032" y="1481328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Nível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103120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latência aumentou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9788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5971032" y="2103120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observação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724912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 span domina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9788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5971032" y="2724912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correlação forte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346704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 é causa provável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5971032" y="3346704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inferência com evidência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968496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reiniciar provider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5971032" y="3968496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ação com HITL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RCA definitiva exige mais evidência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Ação mutável fica fora do agente autônomo</a:t>
            </a:r>
            <a:endParaRPr lang="en-US" sz="1600" dirty="0"/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AUTONOMIA POR RISCO</a:t>
            </a:r>
            <a:endParaRPr lang="en-US" sz="2050" dirty="0"/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Apresente matriz de autonomia: read-only automático, writes reversíveis condicionais, rollback/infra com aprovação.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Explique blast radius, reversibilidade e confidence como critérios.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Autonomia é por capability, não por rótulo 'agente'.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Um restart de pod pode ser auto-safe? Em que condições?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HUMAN-IN-THE-LOOP</a:t>
            </a:r>
            <a:endParaRPr lang="en-US" sz="2050" dirty="0"/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Mostre requires_human=true e ausência de mutating tools. Explique propose→approve→execute separados.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HITL pode ser workflow/approval, não necessariamente prompt interativo.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Review humano precisa de evidência suficiente; senão vira rubber stamp.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 informação precisa aparecer numa solicitação de aprovação?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SRE AGENT OUTPUT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64008" cy="10972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914400" y="1572768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Evidência: métrica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payment_provider = 0.2536 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64008" cy="10972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914400" y="2898648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Evidência: trace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24612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payment.request = 253758 µs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64008" cy="10972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914400" y="4224528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Resultado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confidence=0.85 · active_incident=true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448056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Causa provável, não verificada absoluta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Sem unsupported_claims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requires_human=true para mitigação</a:t>
            </a:r>
            <a:endParaRPr lang="en-US" sz="1600" dirty="0"/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RELEASE POLICY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12648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554480"/>
            <a:ext cx="5806440" cy="2834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decide(functional:dict, visual:dict, sre:dict|None=None)-&gt;ReleaseDecision: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reasons=[]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not functional.get('passed',False): reasons.append('functional critical test failed')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triage=visual.get('triage') or {}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triage.get('recommendation')=='block': reasons.append('visual regression classified as block')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visual.get('policy')=='block': reasons.append('visual policy gate failed')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sre and sre.get('active_incident',False): reasons.append('active SLO-impacting incident')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reasons: return ReleaseDecision('BLOCK',reasons)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triage.get('recommendation')=='review' or visual.get('policy')=='review': return ReleaseDecision('REVIEW',['visual evidence requires human review'])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return ReleaseDecision('PASS',[])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1508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7360920" y="150876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7543800" y="1664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Functional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3800" y="2011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passed=true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60920" y="2651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Shape 14"/>
          <p:cNvSpPr/>
          <p:nvPr/>
        </p:nvSpPr>
        <p:spPr>
          <a:xfrm>
            <a:off x="7360920" y="265176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 15"/>
          <p:cNvSpPr/>
          <p:nvPr/>
        </p:nvSpPr>
        <p:spPr>
          <a:xfrm>
            <a:off x="7543800" y="2807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Visual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3154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policy=review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60920" y="3794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Shape 18"/>
          <p:cNvSpPr/>
          <p:nvPr/>
        </p:nvSpPr>
        <p:spPr>
          <a:xfrm>
            <a:off x="7360920" y="379476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 19"/>
          <p:cNvSpPr/>
          <p:nvPr/>
        </p:nvSpPr>
        <p:spPr>
          <a:xfrm>
            <a:off x="7543800" y="3950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3800" y="4297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active incident → BLOCK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50749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Decisão final validada: BLOCK</a:t>
            </a:r>
            <a:endParaRPr lang="en-US" sz="1800" dirty="0"/>
          </a:p>
        </p:txBody>
      </p:sp>
      <p:sp>
        <p:nvSpPr>
          <p:cNvPr id="2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RELATÓRIO INTEGRADO</a:t>
            </a:r>
            <a:endParaRPr lang="en-US" sz="2050" dirty="0"/>
          </a:p>
        </p:txBody>
      </p:sp>
      <p:sp>
        <p:nvSpPr>
          <p:cNvPr id="2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Mostre release_report: functional passou, visual review, SRE active → BLOCK. Explique agregação de evidências independentes.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Aponte artifact paths e persistência.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O BLOCK atual é intencional porque a evidência salva contém incidente injetado.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Visual review sozinho teria bloqueado?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DECISÃO PASS/REVIEW/BLOCK</a:t>
            </a:r>
            <a:endParaRPr lang="en-US" sz="2050" dirty="0"/>
          </a:p>
        </p:txBody>
      </p:sp>
      <p:sp>
        <p:nvSpPr>
          <p:cNvPr id="2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Mostre policy checks validados: healthy→PASS, visual regression→REVIEW, active incident→BLOCK.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Explique precedence: blocker vence review.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Não confundir release decision com classificação do VLM.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Que evidência seria necessária para waiver de review?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EXERCÍCIO MENTORADO DIA 3</a:t>
            </a:r>
            <a:endParaRPr lang="en-US" sz="2050" dirty="0"/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100" b="1">
                <a:solidFill>
                  <a:srgbClr val="FAFAFA"/>
                </a:solidFill>
                <a:latin typeface="Arial"/>
              </a:rPr>
              <a:t>8 casos: payment_latency; payment_timeout; inventory_500; inventory_slow; ausência de mudanças; telemetria insuficiente; autonomia; release gate.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Entregar sintoma → hipótese → tools/queries → evidência → revisão → confiança → HITL.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Não começar pela causa. Não executar mutação. Evidência insuficiente é uma conclusão válida.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Qual grupo provavelmente terminará com menor confiança — e por quê?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CHECKLIST DE PRODUÇÃO</a:t>
            </a:r>
            <a:endParaRPr lang="en-US" sz="2050" dirty="0"/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80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261872"/>
            <a:ext cx="6446520" cy="3246120"/>
          </a:xfrm>
          <a:prstGeom prst="roundRect">
            <a:avLst/>
          </a:prstGeom>
          <a:solidFill>
            <a:srgbClr val="1C1C1E"/>
          </a:solidFill>
          <a:ln w="15240"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1261872"/>
            <a:ext cx="73152" cy="3246120"/>
          </a:xfrm>
          <a:prstGeom prst="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1481328"/>
            <a:ext cx="5897880" cy="310896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200" b="1">
                <a:solidFill>
                  <a:srgbClr val="2546D2"/>
                </a:solidFill>
                <a:latin typeface="Arial"/>
              </a:rPr>
              <a:t>IDEIA CENTRAL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1856231"/>
            <a:ext cx="5870448" cy="221284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2600" b="1">
                <a:solidFill>
                  <a:srgbClr val="FAFAFA"/>
                </a:solidFill>
                <a:latin typeface="Arial"/>
              </a:rPr>
              <a:t>Contratos · instrumentação · identidade de serviço · tools limitadas · menor privilégio.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6912" y="1261872"/>
            <a:ext cx="4315968" cy="162763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1426464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DECISÃO DE ENGENHARIA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1755648"/>
            <a:ext cx="3858768" cy="877824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700" b="0">
                <a:solidFill>
                  <a:srgbClr val="0C0C0C"/>
                </a:solidFill>
                <a:latin typeface="Arial"/>
              </a:rPr>
              <a:t>Auditoria de tool calls · avaliações · HITL · release policy · artefatos versionáveis.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6912" y="3063240"/>
            <a:ext cx="4315968" cy="1444752"/>
          </a:xfrm>
          <a:prstGeom prst="roundRect">
            <a:avLst/>
          </a:prstGeom>
          <a:solidFill>
            <a:srgbClr val="0C0C0C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3236976"/>
            <a:ext cx="3886200" cy="256032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100" b="1">
                <a:solidFill>
                  <a:srgbClr val="2546D2"/>
                </a:solidFill>
                <a:latin typeface="Arial"/>
              </a:rPr>
              <a:t>LIMITE / CUIDADO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547872"/>
            <a:ext cx="3858768" cy="749808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0">
                <a:solidFill>
                  <a:srgbClr val="BEBEC2"/>
                </a:solidFill>
                <a:latin typeface="Arial"/>
              </a:rPr>
              <a:t>Checklist não substitui threat modeling, desenho de SLO nem validação específica do contexto produtivo.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773168"/>
            <a:ext cx="11045952" cy="676656"/>
          </a:xfrm>
          <a:prstGeom prst="roundRect">
            <a:avLst/>
          </a:prstGeom>
          <a:solidFill>
            <a:srgbClr val="2546D2"/>
          </a:solidFill>
          <a:ln w="15240">
            <a:solidFill>
              <a:srgbClr val="25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4846320"/>
            <a:ext cx="10607040" cy="502920"/>
          </a:xfrm>
          <a:prstGeom prst="rect">
            <a:avLst/>
          </a:prstGeom>
          <a:noFill/>
        </p:spPr>
        <p:txBody>
          <a:bodyPr wrap="square" lIns="109728" rIns="109728" tIns="54864" bIns="36576" anchor="ctr">
            <a:spAutoFit/>
          </a:bodyPr>
          <a:lstStyle/>
          <a:p>
            <a:pPr algn="l"/>
            <a:r>
              <a:rPr sz="1600" b="1">
                <a:solidFill>
                  <a:srgbClr val="0C0C0C"/>
                </a:solidFill>
                <a:latin typeface="Arial"/>
              </a:rPr>
              <a:t>PERGUNTA À TURMA  ·  Qual item vocês acrescentariam para o sistema real da empresa?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FECHAMENTO DA SEMANA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Evidência antes de autonomia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9875520" cy="1828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Dia 1: testes funcionais com oracle defensável</a:t>
            </a:r>
            <a:endParaRPr lang="en-US" sz="18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Dia 2: regressão visual medida e triada</a:t>
            </a:r>
            <a:endParaRPr lang="en-US" sz="18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Dia 3: investigação SRE com métricas e traces reais</a:t>
            </a:r>
            <a:endParaRPr lang="en-US" sz="18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Produção: política e aprovação humana para risco</a:t>
            </a:r>
            <a:endParaRPr lang="en-US" sz="1800" dirty="0"/>
          </a:p>
        </p:txBody>
      </p:sp>
      <p:sp>
        <p:nvSpPr>
          <p:cNvPr id="13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xe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LAB365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ReleaseGuard AI — Low-Code para QA e SRE com IA</dc:title>
  <dc:subject>Low-Code para QA e SRE com IA</dc:subject>
  <dc:creator>LAB365 / OpenAI</dc:creator>
  <cp:lastModifiedBy>LAB365 / OpenAI</cp:lastModifiedBy>
  <cp:revision>1</cp:revision>
  <dcterms:created xsi:type="dcterms:W3CDTF">2026-08-17T13:57:28Z</dcterms:created>
  <dcterms:modified xsi:type="dcterms:W3CDTF">2026-08-17T13:57:28Z</dcterms:modified>
</cp:coreProperties>
</file>