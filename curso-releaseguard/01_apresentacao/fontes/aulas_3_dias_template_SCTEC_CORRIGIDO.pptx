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notesMasterIdLst>
    <p:notesMasterId r:id="rId8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80.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81.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4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4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4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4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Relationship Id="rId4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4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RELEASEGUARD AI: QA FUNCIONAL LOW-CODE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3000" b="1" dirty="0">
                <a:solidFill>
                  <a:srgbClr val="FFFFFF"/>
                </a:solidFill>
                <a:latin typeface="Roboto"/>
              </a:rPr>
              <a:t>LOW-CODE PARA QA E SRE COM IA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260604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500" dirty="0">
                <a:solidFill>
                  <a:srgbClr val="6FBF48"/>
                </a:solidFill>
                <a:latin typeface="Roboto"/>
              </a:rPr>
              <a:t>Semana técnica baseada no núcleo validado ReleaseGuard: QA funcional, regressão visual e investigação SRE com evidências reais.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80960" y="16002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7680960" y="1600200"/>
            <a:ext cx="64008" cy="28346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7863840" y="175564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Núcleo congelado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0" y="2103120"/>
            <a:ext cx="3246120" cy="2240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/>
              </a:rPr>
              <a:t>releaseguard_course_validated_2026-08-17.zip</a:t>
            </a:r>
            <a:endParaRPr lang="en-US" sz="13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35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/>
              </a:rPr>
              <a:t>57 testes + gates live aprovados</a:t>
            </a:r>
            <a:endParaRPr lang="en-US" sz="1350" dirty="0"/>
          </a:p>
        </p:txBody>
      </p:sp>
      <p:sp>
        <p:nvSpPr>
          <p:cNvPr id="16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PROBLEMA: TESTE GERADO NÃO É TESTE CONFIÁVEL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Problema de engenharia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LLMs podem gerar teste plausível e errado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Low-code facilita automação, mas não define correção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O objetivo é produzir evidência verificável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Regra da semana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/>
              </a:rPr>
              <a:t>IA propõe e interpreta. Código valida, mede e decide política.</a:t>
            </a:r>
            <a:endParaRPr lang="en-US" sz="1300" dirty="0"/>
          </a:p>
        </p:txBody>
      </p:sp>
      <p:sp>
        <p:nvSpPr>
          <p:cNvPr id="16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SISTEMA CENTRAL E EVIDÊNCIAS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640080" y="1325880"/>
            <a:ext cx="64008" cy="12344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822960" y="14813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FastAPI + UI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18288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e-commerce real com estados e cenários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4434840" y="1325880"/>
            <a:ext cx="64008" cy="12344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4617720" y="14813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17720" y="18288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TestPlan + HTTP + oracle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8229600" y="1325880"/>
            <a:ext cx="64008" cy="12344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8412480" y="14813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0" y="18288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Playwright + SSIM + VLM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468880" y="30632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Shape 20"/>
          <p:cNvSpPr/>
          <p:nvPr/>
        </p:nvSpPr>
        <p:spPr>
          <a:xfrm>
            <a:off x="2468880" y="3063240"/>
            <a:ext cx="64008" cy="12344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 21"/>
          <p:cNvSpPr/>
          <p:nvPr/>
        </p:nvSpPr>
        <p:spPr>
          <a:xfrm>
            <a:off x="2651760" y="32186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Dia 3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651760" y="356616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Prometheus + Jaeger + SRE Agent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30632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Shape 24"/>
          <p:cNvSpPr/>
          <p:nvPr/>
        </p:nvSpPr>
        <p:spPr>
          <a:xfrm>
            <a:off x="6583680" y="3063240"/>
            <a:ext cx="64008" cy="12344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 25"/>
          <p:cNvSpPr/>
          <p:nvPr/>
        </p:nvSpPr>
        <p:spPr>
          <a:xfrm>
            <a:off x="6766560" y="321868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Complete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66560" y="356616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PASS / REVIEW / BLOCK por política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4800600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Uma única aplicação gera os artefatos que aparecem nos guias e nos slides.</a:t>
            </a:r>
            <a:endParaRPr lang="en-US" sz="1800" dirty="0"/>
          </a:p>
        </p:txBody>
      </p:sp>
      <p:sp>
        <p:nvSpPr>
          <p:cNvPr id="31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DEFINIÇÃO CANÔNICA: LOW-CODE TESTING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68580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86868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Ideia central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Definição vem depois da evidência executada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443484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461772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Engenharia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Vocabulário técnico nomeia o que o aluno já viu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818388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836676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Limite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A definição fecha com limite operacional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Conecte este conceito ao artefato executado antes de avançar.</a:t>
            </a:r>
            <a:endParaRPr lang="en-US" sz="1800" dirty="0"/>
          </a:p>
        </p:txBody>
      </p:sp>
      <p:sp>
        <p:nvSpPr>
          <p:cNvPr id="2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DEFINIÇÃO CANÔNICA: TEST CASE E TEST ORACLE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Definição vem depois da evidência executada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Vocabulário técnico nomeia o que o aluno já viu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definição fecha com limite operacional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TestPlan → executor → report</a:t>
            </a:r>
            <a:endParaRPr lang="en-US" sz="1300" dirty="0"/>
          </a:p>
        </p:txBody>
      </p:sp>
      <p:sp>
        <p:nvSpPr>
          <p:cNvPr id="16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EXECUTAR ANTES DE TEORIZAR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executar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Shape 11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observar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Shape 15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formalizar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Shape 19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aprofundar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Shape 23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aplicar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Shape 27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Text 28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avaliar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05840" y="46177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Comece pelo terminal/browser. A teoria nomeia o comportamento observado.</a:t>
            </a:r>
            <a:endParaRPr lang="en-US" sz="2200" dirty="0"/>
          </a:p>
        </p:txBody>
      </p:sp>
      <p:sp>
        <p:nvSpPr>
          <p:cNvPr id="34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35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REQUISITO DE ESTOQUE INSUFICIENTE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IA ajuda a transformar requisito em plano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Código valida escopo e executa HTTP real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Relatório registra evidência verificável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LLM propõe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Pydantic valida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HTTP executa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Oracle decide</a:t>
            </a:r>
            <a:endParaRPr lang="en-US" sz="15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SCHEMA CANÔNICO DO TESTPLAN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67512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554480"/>
            <a:ext cx="6355080" cy="2834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class HttpStep(BaseModel):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name: str = Field(min_length=3)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method: Literal['GET','POST','PUT','PATCH','DELETE']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path: str = Field(pattern=r'^/.*$')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json_body: dict | None = None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expect_status: int = Field(ge=100, le=599)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class TestPlan(BaseModel):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__test__ = False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name: str = Field(min_length=3)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intent: str = Field(min_length=5)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risk: str = Field(min_length=3)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oracle: str = Field(min_length=5)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steps: list[HttpStep] = Field(min_length=1, max_length=8)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26680" y="1691640"/>
            <a:ext cx="356616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Plano validável antes de executar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Steps HTTP com status esperado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Oracle descrito fora do modelo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POR QUE PYDANTIC ENTRA ANTES DO HTTP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Schema é contrato de integração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Pydantic valida antes de qualquer HTTP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Formato válido ainda precisa ser semântico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TestPlan → executor → report</a:t>
            </a:r>
            <a:endParaRPr lang="en-US" sz="1300" dirty="0"/>
          </a:p>
        </p:txBody>
      </p:sp>
      <p:sp>
        <p:nvSpPr>
          <p:cNvPr id="16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POLÍTICA DE MÉTODO E PATH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858000" cy="3474720"/>
          </a:xfrm>
          <a:prstGeom prst="roundRect">
            <a:avLst>
              <a:gd name="adj" fmla="val 1579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554480"/>
            <a:ext cx="6537960" cy="32004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ALLOWED_METHODS = {'GET','POST'}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ALLOWED_PREFIXES = ['/cart','/checkout','/products','/lab']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validate_plan_policy(plan, base_url):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for step in plan.steps: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if step.method not in ALLOWED_METHODS: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raise PermissionError(step.method)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if not any(step.path.startswith(p) for p in ALLOWED_PREFIXES):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raise PermissionError(step.path)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169164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Permissões ficam no código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Método e path são filtrados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Endpoint inventado não chega ao HTTP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EXECUTOR HTTP REAL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903720" cy="3703320"/>
          </a:xfrm>
          <a:prstGeom prst="roundRect">
            <a:avLst>
              <a:gd name="adj" fmla="val 1481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758952" y="1554480"/>
            <a:ext cx="6583680" cy="3429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run_plan(plan:TestPlan, base_url:str='http://127.0.0.1:8000', client:httpx.Client|None=None)-&gt;TestReport: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validate_plan_policy(plan,base_url)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own=client is None; client=client or httpx.Client(base_url=base_url,timeout=3.0)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context={} ; results=[]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try: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for step in plan.steps: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path=step.path.format(**context)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r=client.request(step.method,path,json=step.json_body)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body=r.json() if 'application/json' in r.headers.get('content-type','') else r.text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if step.path=='/cart' and isinstance(body,dict) and 'id' in body: context['cart_id']=body['id']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if step.path=='/checkout' and isinstance(body,dict) and 'id' in body: context['order_id']=body['id']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    results.append(StepResult(step.name,step.method,path,r.status_code,step.expect_status,r.status_code==step.expect_status,body))</a:t>
            </a:r>
            <a:endParaRPr lang="en-US" sz="133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8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return TestReport(plan.name, all(s.passed for s in results), results)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863840" y="169164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• httpx executa contra FastAPI real</a:t>
            </a:r>
            <a:endParaRPr lang="en-US" sz="16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• Cada step registra status e body</a:t>
            </a:r>
            <a:endParaRPr lang="en-US" sz="16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• Relatório vira evidência reutilizável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DEMONSTRAÇÃO: 200 DEPOIS 409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371600"/>
            <a:ext cx="6263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"name": "checkout bloqueia quantidade acima do estoque",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"passed": true,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"steps": [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"name": "criar carrinho",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"method": "POST",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"path": "/cart",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"status": 200,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"expected_status": 200,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"passed": true,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"body": 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"id": "cart-003",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"items": []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}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},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"name": "adicionar quantidade inválida",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"method": "POST",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"path": "/cart/cart-003/items",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"status": 409,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"expected_status": 409,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"passed": true,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"body": 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"detail": "insufficient stock"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}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]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635240" y="146304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7635240" y="146304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7818120" y="16184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Step 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18120" y="196596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POST /cart → 200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35240" y="27432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Shape 14"/>
          <p:cNvSpPr/>
          <p:nvPr/>
        </p:nvSpPr>
        <p:spPr>
          <a:xfrm>
            <a:off x="7635240" y="274320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 15"/>
          <p:cNvSpPr/>
          <p:nvPr/>
        </p:nvSpPr>
        <p:spPr>
          <a:xfrm>
            <a:off x="7818120" y="289864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Step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18120" y="324612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POST /items → 409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35240" y="402336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Shape 18"/>
          <p:cNvSpPr/>
          <p:nvPr/>
        </p:nvSpPr>
        <p:spPr>
          <a:xfrm>
            <a:off x="7635240" y="402336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 19"/>
          <p:cNvSpPr/>
          <p:nvPr/>
        </p:nvSpPr>
        <p:spPr>
          <a:xfrm>
            <a:off x="7818120" y="417880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Oracle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18120" y="452628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insufficient stock esperado</a:t>
            </a:r>
            <a:endParaRPr lang="en-US" sz="1400" dirty="0"/>
          </a:p>
        </p:txBody>
      </p:sp>
      <p:sp>
        <p:nvSpPr>
          <p:cNvPr id="24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12</a:t>
            </a:r>
          </a:p>
        </p:txBody>
      </p:sp>
      <p:sp>
        <p:nvSpPr>
          <p:cNvPr id="25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QUE A IA PODE GERAR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IA ajuda a transformar requisito em plano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Código valida escopo e executa HTTP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Relatório registra evidência verificável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TestPlan → executor → report</a:t>
            </a:r>
            <a:endParaRPr lang="en-US" sz="1300" dirty="0"/>
          </a:p>
        </p:txBody>
      </p:sp>
      <p:sp>
        <p:nvSpPr>
          <p:cNvPr id="16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13</a:t>
            </a:r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QUE A IA NÃO DEVE DECIDIR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Sequência lógica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requisito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schema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validação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Shape 20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 21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HTTP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Shape 24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 25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oracle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Shape 28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Text 29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IA ajuda a transformar requisito em plano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Código valida escopo e executa HTTP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Relatório registra evidência verificável</a:t>
            </a:r>
            <a:endParaRPr lang="en-US" sz="1600" dirty="0"/>
          </a:p>
        </p:txBody>
      </p:sp>
      <p:sp>
        <p:nvSpPr>
          <p:cNvPr id="35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14</a:t>
            </a:r>
          </a:p>
        </p:txBody>
      </p:sp>
      <p:sp>
        <p:nvSpPr>
          <p:cNvPr id="3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OLLAMA STRUCTURED OUTPUT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949440" cy="3977640"/>
          </a:xfrm>
          <a:prstGeom prst="roundRect">
            <a:avLst>
              <a:gd name="adj" fmla="val 1379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758952" y="1554480"/>
            <a:ext cx="6629400" cy="3703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generate_plan(requirement:str, openapi:dict, base_url:str|None=None, model:str|None=None, runtime_context:dict|None=None)-&gt;TestPlan: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endpoint=(base_url or os.getenv('OLLAMA_BASE_URL','http://localhost:11434')).rstrip('/')+'/api/chat'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model=model or os.getenv('OLLAMA_TEXT_MODEL','qwen3:8b')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schema=TestPlan.model_json_schema()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prompt=f"Requisito:\n{requirement}\n\nContexto de execução:\n{json.dumps(runtime_context or {},ensure_ascii=False)}\n\nOpenAPI:\n{json.dumps(openapi,ensure_ascii=False)[:24000]}\n\nJSON Schema:\n{json.dumps(schema,ensure_ascii=False)}"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messages=[{'role':'system','content':SYSTEM_INSTRUCTIONS},{'role':'user','content':prompt}]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for _ in range(3):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payload={'model':model,'stream':False,'format':schema,'options':{'temperature':0},'messages':messages}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r=httpx.post(endpoint,json=payload,timeout=120.0); r.raise_for_status()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content=r.json()['message']['content']; plan=TestPlan.model_validate_json(content)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issues=_semantic_issues(plan,openapi)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if not issues: return plan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messages.extend([{'role':'assistant','content':content},{'role':'user','content':'Corrija estes problemas semânticos: '+'; '.join(issues)}])</a:t>
            </a:r>
            <a:endParaRPr lang="en-US" sz="12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83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raise ValueError('generated plan failed semantic validation: '+'; '.join(issues))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863840" y="1554480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Schema enviado ao modelo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Temperatura baixa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Pydantic valida antes do executor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15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PROMPT COM OPENAPI E PRODUTOS REAIS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68580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86868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Ideia central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IA ajuda a transformar requisito em plano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443484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461772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Engenharia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Código valida escopo e executa HTTP real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818388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836676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Limite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Relatório registra evidência verificável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Conecte este conceito ao artefato executado antes de avançar.</a:t>
            </a:r>
            <a:endParaRPr lang="en-US" sz="1800" dirty="0"/>
          </a:p>
        </p:txBody>
      </p:sp>
      <p:sp>
        <p:nvSpPr>
          <p:cNvPr id="2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16</a:t>
            </a:r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CORREÇÃO LIMITADA E VALIDAÇÃO SEMÂNTICA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IA ajuda a transformar requisito em plano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Código valida escopo e executa HTTP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Relatório registra evidência verificável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TestPlan → executor → report</a:t>
            </a:r>
            <a:endParaRPr lang="en-US" sz="1300" dirty="0"/>
          </a:p>
        </p:txBody>
      </p:sp>
      <p:sp>
        <p:nvSpPr>
          <p:cNvPr id="16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17</a:t>
            </a:r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LOW-CODE NO N8N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Workflow n8n validado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86868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1. Manual 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347472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365760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2. Requirement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44652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3. Fetch OpenAPI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Shape 21"/>
          <p:cNvSpPr/>
          <p:nvPr/>
        </p:nvSpPr>
        <p:spPr>
          <a:xfrm>
            <a:off x="905256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923544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4. Fetch Products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Shape 25"/>
          <p:cNvSpPr/>
          <p:nvPr/>
        </p:nvSpPr>
        <p:spPr>
          <a:xfrm>
            <a:off x="68580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86868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5. Generate TestPlan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Chain + Ollama + Parser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Shape 29"/>
          <p:cNvSpPr/>
          <p:nvPr/>
        </p:nvSpPr>
        <p:spPr>
          <a:xfrm>
            <a:off x="347472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 30"/>
          <p:cNvSpPr/>
          <p:nvPr/>
        </p:nvSpPr>
        <p:spPr>
          <a:xfrm>
            <a:off x="365760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6.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26364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Shape 33"/>
          <p:cNvSpPr/>
          <p:nvPr/>
        </p:nvSpPr>
        <p:spPr>
          <a:xfrm>
            <a:off x="626364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Text 34"/>
          <p:cNvSpPr/>
          <p:nvPr/>
        </p:nvSpPr>
        <p:spPr>
          <a:xfrm>
            <a:off x="644652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7. Execute Plan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/qa/execute-plan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05256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Shape 37"/>
          <p:cNvSpPr/>
          <p:nvPr/>
        </p:nvSpPr>
        <p:spPr>
          <a:xfrm>
            <a:off x="905256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Text 38"/>
          <p:cNvSpPr/>
          <p:nvPr/>
        </p:nvSpPr>
        <p:spPr>
          <a:xfrm>
            <a:off x="923544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8.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3544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4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18</a:t>
            </a:r>
          </a:p>
        </p:txBody>
      </p:sp>
      <p:sp>
        <p:nvSpPr>
          <p:cNvPr id="4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BASIC LLM CHAIN, NÃO AI AGENT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Basic LLM Chain, não AI Agent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86868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1. Manual 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347472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365760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2. Requirement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44652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3. Fetch OpenAPI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Shape 21"/>
          <p:cNvSpPr/>
          <p:nvPr/>
        </p:nvSpPr>
        <p:spPr>
          <a:xfrm>
            <a:off x="905256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923544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4. Fetch Products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Shape 25"/>
          <p:cNvSpPr/>
          <p:nvPr/>
        </p:nvSpPr>
        <p:spPr>
          <a:xfrm>
            <a:off x="68580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86868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5. Generate TestPlan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Chain + Ollama + Parser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Shape 29"/>
          <p:cNvSpPr/>
          <p:nvPr/>
        </p:nvSpPr>
        <p:spPr>
          <a:xfrm>
            <a:off x="347472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 30"/>
          <p:cNvSpPr/>
          <p:nvPr/>
        </p:nvSpPr>
        <p:spPr>
          <a:xfrm>
            <a:off x="365760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6.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26364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Shape 33"/>
          <p:cNvSpPr/>
          <p:nvPr/>
        </p:nvSpPr>
        <p:spPr>
          <a:xfrm>
            <a:off x="626364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Text 34"/>
          <p:cNvSpPr/>
          <p:nvPr/>
        </p:nvSpPr>
        <p:spPr>
          <a:xfrm>
            <a:off x="644652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7. Execute Plan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/qa/execute-plan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05256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Shape 37"/>
          <p:cNvSpPr/>
          <p:nvPr/>
        </p:nvSpPr>
        <p:spPr>
          <a:xfrm>
            <a:off x="905256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Text 38"/>
          <p:cNvSpPr/>
          <p:nvPr/>
        </p:nvSpPr>
        <p:spPr>
          <a:xfrm>
            <a:off x="923544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8.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3544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502920" y="59893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n8n Basic LLM Chain: docs.n8n.io/integrations/builtin/cluster-nodes/root-nodes/n8n-nodes-langchain.chainllm</a:t>
            </a:r>
            <a:endParaRPr lang="en-US" sz="650" dirty="0"/>
          </a:p>
        </p:txBody>
      </p:sp>
      <p:sp>
        <p:nvSpPr>
          <p:cNvPr id="44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19</a:t>
            </a:r>
          </a:p>
        </p:txBody>
      </p:sp>
      <p:sp>
        <p:nvSpPr>
          <p:cNvPr id="45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WORKFLOW N8N VALIDADO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Workflow n8n validado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86868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1. Manual 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347472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365760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2. Requirement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44652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3. Fetch OpenAPI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Shape 21"/>
          <p:cNvSpPr/>
          <p:nvPr/>
        </p:nvSpPr>
        <p:spPr>
          <a:xfrm>
            <a:off x="905256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923544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4. Fetch Products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Shape 25"/>
          <p:cNvSpPr/>
          <p:nvPr/>
        </p:nvSpPr>
        <p:spPr>
          <a:xfrm>
            <a:off x="68580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86868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5. Generate TestPlan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Chain + Ollama + Parser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Shape 29"/>
          <p:cNvSpPr/>
          <p:nvPr/>
        </p:nvSpPr>
        <p:spPr>
          <a:xfrm>
            <a:off x="347472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 30"/>
          <p:cNvSpPr/>
          <p:nvPr/>
        </p:nvSpPr>
        <p:spPr>
          <a:xfrm>
            <a:off x="365760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6.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26364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Shape 33"/>
          <p:cNvSpPr/>
          <p:nvPr/>
        </p:nvSpPr>
        <p:spPr>
          <a:xfrm>
            <a:off x="626364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Text 34"/>
          <p:cNvSpPr/>
          <p:nvPr/>
        </p:nvSpPr>
        <p:spPr>
          <a:xfrm>
            <a:off x="644652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7. Execute Plan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/qa/execute-plan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05256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Shape 37"/>
          <p:cNvSpPr/>
          <p:nvPr/>
        </p:nvSpPr>
        <p:spPr>
          <a:xfrm>
            <a:off x="905256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Text 38"/>
          <p:cNvSpPr/>
          <p:nvPr/>
        </p:nvSpPr>
        <p:spPr>
          <a:xfrm>
            <a:off x="923544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8.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3544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4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20</a:t>
            </a:r>
          </a:p>
        </p:txBody>
      </p:sp>
      <p:sp>
        <p:nvSpPr>
          <p:cNvPr id="4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ONDE OBSERVAR CADA NODE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Workflow n8n validado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86868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1. Manual 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347472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365760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2. Requirement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44652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3. Fetch OpenAPI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Shape 21"/>
          <p:cNvSpPr/>
          <p:nvPr/>
        </p:nvSpPr>
        <p:spPr>
          <a:xfrm>
            <a:off x="9052560" y="182880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9235440" y="19842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4. Fetch Products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331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Shape 25"/>
          <p:cNvSpPr/>
          <p:nvPr/>
        </p:nvSpPr>
        <p:spPr>
          <a:xfrm>
            <a:off x="68580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86868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5. Generate TestPlan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Chain + Ollama + Parser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Shape 29"/>
          <p:cNvSpPr/>
          <p:nvPr/>
        </p:nvSpPr>
        <p:spPr>
          <a:xfrm>
            <a:off x="347472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 30"/>
          <p:cNvSpPr/>
          <p:nvPr/>
        </p:nvSpPr>
        <p:spPr>
          <a:xfrm>
            <a:off x="365760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6.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26364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Shape 33"/>
          <p:cNvSpPr/>
          <p:nvPr/>
        </p:nvSpPr>
        <p:spPr>
          <a:xfrm>
            <a:off x="626364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Text 34"/>
          <p:cNvSpPr/>
          <p:nvPr/>
        </p:nvSpPr>
        <p:spPr>
          <a:xfrm>
            <a:off x="644652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7. Execute Plan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/qa/execute-plan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05256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Shape 37"/>
          <p:cNvSpPr/>
          <p:nvPr/>
        </p:nvSpPr>
        <p:spPr>
          <a:xfrm>
            <a:off x="9052560" y="3246120"/>
            <a:ext cx="64008" cy="9144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Text 38"/>
          <p:cNvSpPr/>
          <p:nvPr/>
        </p:nvSpPr>
        <p:spPr>
          <a:xfrm>
            <a:off x="923544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8.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35440" y="3749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node validado</a:t>
            </a:r>
            <a:endParaRPr lang="en-US" sz="1080" dirty="0"/>
          </a:p>
        </p:txBody>
      </p:sp>
      <p:sp>
        <p:nvSpPr>
          <p:cNvPr id="4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21</a:t>
            </a:r>
          </a:p>
        </p:txBody>
      </p:sp>
      <p:sp>
        <p:nvSpPr>
          <p:cNvPr id="4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SELF-HEALING: ÚTIL OU PERIGOSO?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Sequência lógica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requisito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schema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validação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Shape 20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 21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HTTP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Shape 24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 25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oracle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Shape 28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Text 29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Auto-reparo pode reduzir manutenção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Também pode mascarar regressão legítima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Human review protege baseline e oracle</a:t>
            </a:r>
            <a:endParaRPr lang="en-US" sz="1600" dirty="0"/>
          </a:p>
        </p:txBody>
      </p:sp>
      <p:sp>
        <p:nvSpPr>
          <p:cNvPr id="35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22</a:t>
            </a:r>
          </a:p>
        </p:txBody>
      </p:sp>
      <p:sp>
        <p:nvSpPr>
          <p:cNvPr id="3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FAILURE MODES DO DIA 1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5166360" cy="640080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96112" y="148132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Failure mode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1417320"/>
            <a:ext cx="5166360" cy="640080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6062472" y="148132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Controle no núcleo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205740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96112" y="212140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Endpoint inventado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205740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6062472" y="212140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policy.py + OpenAPI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269748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96112" y="276148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JSON inválido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269748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062472" y="276148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Structured Output + Pydantic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333756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96112" y="340156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Oracle fraco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89320" y="333756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6062472" y="340156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regra de negócio + status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397764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96112" y="404164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Self-healing excessivo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89320" y="397764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6062472" y="4041648"/>
            <a:ext cx="5020056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review humano</a:t>
            </a:r>
            <a:endParaRPr lang="en-US" sz="1150" dirty="0"/>
          </a:p>
        </p:txBody>
      </p:sp>
      <p:sp>
        <p:nvSpPr>
          <p:cNvPr id="30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23</a:t>
            </a:r>
          </a:p>
        </p:txBody>
      </p:sp>
      <p:sp>
        <p:nvSpPr>
          <p:cNvPr id="31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COMPARAÇÃO: CÓDIGO, LOW-CODE E AGENTE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68580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86868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Ideia central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IA ajuda a transformar requisito em plano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443484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461772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Engenharia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Código valida escopo e executa HTTP real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818388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836676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Limite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Relatório registra evidência verificável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Conecte este conceito ao artefato executado antes de avançar.</a:t>
            </a:r>
            <a:endParaRPr lang="en-US" sz="1800" dirty="0"/>
          </a:p>
        </p:txBody>
      </p:sp>
      <p:sp>
        <p:nvSpPr>
          <p:cNvPr id="2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24</a:t>
            </a:r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EXERCÍCIO MENTORADO DIA 1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Caso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6016752" y="1481328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Foco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103120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Carrinho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6016752" y="2103120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stateful multi-step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724912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Cupom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016752" y="2724912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boundary testing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346704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Estoque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6016752" y="3346704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409 e oracle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968496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Idempotência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6016752" y="3968496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retry sem efeito duplicado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0120" y="480060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Entrega: plano + evidência + justificativa do oracle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Avaliação: decisão técnica, não memorização</a:t>
            </a:r>
            <a:endParaRPr lang="en-US" sz="1600" dirty="0"/>
          </a:p>
        </p:txBody>
      </p:sp>
      <p:sp>
        <p:nvSpPr>
          <p:cNvPr id="31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25</a:t>
            </a:r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CRITÉRIOS DE AVALIAÇÃO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Caso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6016752" y="1481328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Foco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103120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Carrinho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6016752" y="2103120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stateful multi-step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724912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Cupom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016752" y="2724912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boundary testing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346704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Estoque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6016752" y="3346704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409 e oracle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968496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Idempotência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6016752" y="3968496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retry sem efeito duplicado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0120" y="480060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Entrega: plano + evidência + justificativa do oracle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Avaliação: decisão técnica, não memorização</a:t>
            </a:r>
            <a:endParaRPr lang="en-US" sz="1600" dirty="0"/>
          </a:p>
        </p:txBody>
      </p:sp>
      <p:sp>
        <p:nvSpPr>
          <p:cNvPr id="31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26</a:t>
            </a:r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FECHAMENTO DIA 1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IA ajuda a transformar requisito em plano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Código valida escopo e executa HTTP real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Relatório registra evidência verificável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LLM propõe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Pydantic valida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HTTP executa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700" dirty="0" b="1">
                <a:solidFill>
                  <a:srgbClr val="6FBF48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Oracle decide</a:t>
            </a:r>
            <a:endParaRPr lang="en-US" sz="15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27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2: REGRESSÃO VISUAL COM VISUAL AI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REGRESSÃO VISUAL COM VISUAL AI</a:t>
            </a:r>
            <a:endParaRPr lang="en-US" sz="3000" dirty="0"/>
          </a:p>
        </p:txBody>
      </p:sp>
      <p:pic>
        <p:nvPicPr>
          <p:cNvPr id="10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988820"/>
            <a:ext cx="329184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283464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Browser real → screenshot → diff → SSIM → VLM → política visual</a:t>
            </a:r>
            <a:endParaRPr lang="en-US" sz="17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28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PROBLEMA: IMAGEM DIFERENTE ≠ BUG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Browser real gera screenshots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Comparação visual mede diferença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VLM classifica sem decidir release sozinho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baseline/current/diff → triagem</a:t>
            </a:r>
            <a:endParaRPr lang="en-US" sz="1300" dirty="0"/>
          </a:p>
        </p:txBody>
      </p:sp>
      <p:sp>
        <p:nvSpPr>
          <p:cNvPr id="16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29</a:t>
            </a:r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DEFINIÇÃO CANÔNICA: VISUAL REGRESSION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Sequência lógica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baseline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cenário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current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Shape 20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 21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diff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Shape 24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 25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VLM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Shape 28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Text 29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policy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Definição vem depois da evidência executada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Vocabulário técnico nomeia o que o aluno já viu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definição fecha com limite operacional</a:t>
            </a:r>
            <a:endParaRPr lang="en-US" sz="1600" dirty="0"/>
          </a:p>
        </p:txBody>
      </p:sp>
      <p:sp>
        <p:nvSpPr>
          <p:cNvPr id="35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30</a:t>
            </a:r>
          </a:p>
        </p:txBody>
      </p:sp>
      <p:sp>
        <p:nvSpPr>
          <p:cNvPr id="3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DEFINIÇÃO: BASELINE, CURRENT E DIFF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Métrica quantifica diferença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Score agregado pode esconder região crítica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Diff comunica o problema para humanos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imagem != bug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score != correção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triagem != policy</a:t>
            </a:r>
            <a:endParaRPr lang="en-US" sz="15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31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UI REAL DO RELEASEGUARD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Captura vem de /store/checkout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Playwright usa Chromium gerenciado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Baseline é artefato versionável</a:t>
            </a:r>
            <a:endParaRPr lang="en-US" sz="1600" dirty="0"/>
          </a:p>
        </p:txBody>
      </p:sp>
      <p:sp>
        <p:nvSpPr>
          <p:cNvPr id="12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32</a:t>
            </a:r>
          </a:p>
        </p:txBody>
      </p:sp>
      <p:sp>
        <p:nvSpPr>
          <p:cNvPr id="13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PLAYWRIGHT COMO CÂMERA DETERMINÍSTICA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Browser real gera screenshots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Comparação visual mede diferença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VLM classifica sem decidir release sozinho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baseline/current/diff → triagem</a:t>
            </a:r>
            <a:endParaRPr lang="en-US" sz="1300" dirty="0"/>
          </a:p>
        </p:txBody>
      </p:sp>
      <p:sp>
        <p:nvSpPr>
          <p:cNvPr id="16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33</a:t>
            </a:r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CAPTURA DE BASELINE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Captura vem de /store/checkout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Playwright usa Chromium gerenciado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Baseline é artefato versionável</a:t>
            </a:r>
            <a:endParaRPr lang="en-US" sz="1600" dirty="0"/>
          </a:p>
        </p:txBody>
      </p:sp>
      <p:sp>
        <p:nvSpPr>
          <p:cNvPr id="12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34</a:t>
            </a:r>
          </a:p>
        </p:txBody>
      </p:sp>
      <p:sp>
        <p:nvSpPr>
          <p:cNvPr id="13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CENÁRIO VISUAL CONTROLADO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Cenário controlado altera HTML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O botão muda de posição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diferença é pequena, mas localizada</a:t>
            </a:r>
            <a:endParaRPr lang="en-US" sz="1600" dirty="0"/>
          </a:p>
        </p:txBody>
      </p:sp>
      <p:sp>
        <p:nvSpPr>
          <p:cNvPr id="12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35</a:t>
            </a:r>
          </a:p>
        </p:txBody>
      </p:sp>
      <p:sp>
        <p:nvSpPr>
          <p:cNvPr id="13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CAPTURA CURRENT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Cenário controlado altera HTML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O botão muda de posição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diferença é pequena, mas localizada</a:t>
            </a:r>
            <a:endParaRPr lang="en-US" sz="1600" dirty="0"/>
          </a:p>
        </p:txBody>
      </p:sp>
      <p:sp>
        <p:nvSpPr>
          <p:cNvPr id="12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36</a:t>
            </a:r>
          </a:p>
        </p:txBody>
      </p:sp>
      <p:sp>
        <p:nvSpPr>
          <p:cNvPr id="13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PIXEL DIFF: O PRIMEIRO SINAL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8"/>
          <p:cNvSpPr/>
          <p:nvPr/>
        </p:nvSpPr>
        <p:spPr>
          <a:xfrm>
            <a:off x="8229600" y="1417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9"/>
          <p:cNvSpPr/>
          <p:nvPr/>
        </p:nvSpPr>
        <p:spPr>
          <a:xfrm>
            <a:off x="8412480" y="1572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Pixel ratio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1920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0.01148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2560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2"/>
          <p:cNvSpPr/>
          <p:nvPr/>
        </p:nvSpPr>
        <p:spPr>
          <a:xfrm>
            <a:off x="8229600" y="2560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3"/>
          <p:cNvSpPr/>
          <p:nvPr/>
        </p:nvSpPr>
        <p:spPr>
          <a:xfrm>
            <a:off x="8412480" y="2715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SSIM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063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0.98693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0" y="3703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6"/>
          <p:cNvSpPr/>
          <p:nvPr/>
        </p:nvSpPr>
        <p:spPr>
          <a:xfrm>
            <a:off x="8229600" y="3703320"/>
            <a:ext cx="64008" cy="9601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7"/>
          <p:cNvSpPr/>
          <p:nvPr/>
        </p:nvSpPr>
        <p:spPr>
          <a:xfrm>
            <a:off x="8412480" y="3858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BBox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42062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[285, 237, 567, 297]</a:t>
            </a:r>
            <a:endParaRPr lang="en-US" sz="1250" dirty="0"/>
          </a:p>
        </p:txBody>
      </p:sp>
      <p:sp>
        <p:nvSpPr>
          <p:cNvPr id="2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37</a:t>
            </a:r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BOUNDING BOX: ONDE MUDOU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8"/>
          <p:cNvSpPr/>
          <p:nvPr/>
        </p:nvSpPr>
        <p:spPr>
          <a:xfrm>
            <a:off x="8229600" y="1417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9"/>
          <p:cNvSpPr/>
          <p:nvPr/>
        </p:nvSpPr>
        <p:spPr>
          <a:xfrm>
            <a:off x="8412480" y="1572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Pixel ratio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1920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0.01148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2560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2"/>
          <p:cNvSpPr/>
          <p:nvPr/>
        </p:nvSpPr>
        <p:spPr>
          <a:xfrm>
            <a:off x="8229600" y="2560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3"/>
          <p:cNvSpPr/>
          <p:nvPr/>
        </p:nvSpPr>
        <p:spPr>
          <a:xfrm>
            <a:off x="8412480" y="2715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SSIM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063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0.98693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0" y="3703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6"/>
          <p:cNvSpPr/>
          <p:nvPr/>
        </p:nvSpPr>
        <p:spPr>
          <a:xfrm>
            <a:off x="8229600" y="3703320"/>
            <a:ext cx="64008" cy="9601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7"/>
          <p:cNvSpPr/>
          <p:nvPr/>
        </p:nvSpPr>
        <p:spPr>
          <a:xfrm>
            <a:off x="8412480" y="3858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BBox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42062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[285, 237, 567, 297]</a:t>
            </a:r>
            <a:endParaRPr lang="en-US" sz="1250" dirty="0"/>
          </a:p>
        </p:txBody>
      </p:sp>
      <p:sp>
        <p:nvSpPr>
          <p:cNvPr id="2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38</a:t>
            </a:r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SSIM: SIMILARIDADE ESTRUTURAL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SSIM = luminância × contraste × estrutura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9"/>
          <p:cNvSpPr/>
          <p:nvPr/>
        </p:nvSpPr>
        <p:spPr>
          <a:xfrm>
            <a:off x="822960" y="2057400"/>
            <a:ext cx="64008" cy="14173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1005840" y="221284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Luminância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Comparação do brilho médio das janelas locais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4434840" y="2057400"/>
            <a:ext cx="64008" cy="14173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4617720" y="221284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Contraste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17720" y="25603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Compara a variação de intensidade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7"/>
          <p:cNvSpPr/>
          <p:nvPr/>
        </p:nvSpPr>
        <p:spPr>
          <a:xfrm>
            <a:off x="8046720" y="2057400"/>
            <a:ext cx="64008" cy="14173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8229600" y="221284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Estrutura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0" y="25603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Compara padrões locais normalizados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No artefato validado: SSIM 0.9869 com mudança localizada no CTA.</a:t>
            </a:r>
            <a:endParaRPr lang="en-US" sz="1800" dirty="0"/>
          </a:p>
        </p:txBody>
      </p:sp>
      <p:sp>
        <p:nvSpPr>
          <p:cNvPr id="24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39</a:t>
            </a:r>
          </a:p>
        </p:txBody>
      </p:sp>
      <p:sp>
        <p:nvSpPr>
          <p:cNvPr id="25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A MATEMÁTICA INTUITIVA DO SSIM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SSIM = luminância × contraste × estrutura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9"/>
          <p:cNvSpPr/>
          <p:nvPr/>
        </p:nvSpPr>
        <p:spPr>
          <a:xfrm>
            <a:off x="822960" y="2057400"/>
            <a:ext cx="64008" cy="14173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1005840" y="221284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Luminância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Comparação do brilho médio das janelas locais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4434840" y="2057400"/>
            <a:ext cx="64008" cy="14173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4617720" y="221284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Contraste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17720" y="25603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Compara a variação de intensidade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7"/>
          <p:cNvSpPr/>
          <p:nvPr/>
        </p:nvSpPr>
        <p:spPr>
          <a:xfrm>
            <a:off x="8046720" y="2057400"/>
            <a:ext cx="64008" cy="14173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8229600" y="221284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Estrutura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0" y="25603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Compara padrões locais normalizados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No artefato validado: SSIM 0.9869 com mudança localizada no CTA.</a:t>
            </a:r>
            <a:endParaRPr lang="en-US" sz="1800" dirty="0"/>
          </a:p>
        </p:txBody>
      </p:sp>
      <p:sp>
        <p:nvSpPr>
          <p:cNvPr id="24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40</a:t>
            </a:r>
          </a:p>
        </p:txBody>
      </p:sp>
      <p:sp>
        <p:nvSpPr>
          <p:cNvPr id="25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SCORE GLOBAL E BUG LOCALIZADO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SSIM = luminância × contraste × estrutura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9"/>
          <p:cNvSpPr/>
          <p:nvPr/>
        </p:nvSpPr>
        <p:spPr>
          <a:xfrm>
            <a:off x="822960" y="2057400"/>
            <a:ext cx="64008" cy="14173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1005840" y="221284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Luminância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Comparação do brilho médio das janelas locais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4434840" y="2057400"/>
            <a:ext cx="64008" cy="14173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4617720" y="221284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Contraste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17720" y="25603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Compara a variação de intensidade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7"/>
          <p:cNvSpPr/>
          <p:nvPr/>
        </p:nvSpPr>
        <p:spPr>
          <a:xfrm>
            <a:off x="8046720" y="2057400"/>
            <a:ext cx="64008" cy="14173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8229600" y="221284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Estrutura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0" y="25603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Compara padrões locais normalizados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No artefato validado: SSIM 0.9869 com mudança localizada no CTA.</a:t>
            </a:r>
            <a:endParaRPr lang="en-US" sz="1800" dirty="0"/>
          </a:p>
        </p:txBody>
      </p:sp>
      <p:sp>
        <p:nvSpPr>
          <p:cNvPr id="24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41</a:t>
            </a:r>
          </a:p>
        </p:txBody>
      </p:sp>
      <p:sp>
        <p:nvSpPr>
          <p:cNvPr id="25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EVIDÊNCIA REAL VALIDADA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8"/>
          <p:cNvSpPr/>
          <p:nvPr/>
        </p:nvSpPr>
        <p:spPr>
          <a:xfrm>
            <a:off x="8229600" y="1417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9"/>
          <p:cNvSpPr/>
          <p:nvPr/>
        </p:nvSpPr>
        <p:spPr>
          <a:xfrm>
            <a:off x="8412480" y="1572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Pixel ratio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1920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0.01148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2560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2"/>
          <p:cNvSpPr/>
          <p:nvPr/>
        </p:nvSpPr>
        <p:spPr>
          <a:xfrm>
            <a:off x="8229600" y="2560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3"/>
          <p:cNvSpPr/>
          <p:nvPr/>
        </p:nvSpPr>
        <p:spPr>
          <a:xfrm>
            <a:off x="8412480" y="2715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SSIM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063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0.98693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0" y="3703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6"/>
          <p:cNvSpPr/>
          <p:nvPr/>
        </p:nvSpPr>
        <p:spPr>
          <a:xfrm>
            <a:off x="8229600" y="3703320"/>
            <a:ext cx="64008" cy="9601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7"/>
          <p:cNvSpPr/>
          <p:nvPr/>
        </p:nvSpPr>
        <p:spPr>
          <a:xfrm>
            <a:off x="8412480" y="3858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BBox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42062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[285, 237, 567, 297]</a:t>
            </a:r>
            <a:endParaRPr lang="en-US" sz="1250" dirty="0"/>
          </a:p>
        </p:txBody>
      </p:sp>
      <p:sp>
        <p:nvSpPr>
          <p:cNvPr id="2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42</a:t>
            </a:r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DIFF COMO ARTEFATO DE COMUNICAÇÃO</a:t>
            </a:r>
            <a:endParaRPr lang="en-US" sz="2050" dirty="0"/>
          </a:p>
        </p:txBody>
      </p:sp>
      <p:pic>
        <p:nvPicPr>
          <p:cNvPr id="9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hape 8"/>
          <p:cNvSpPr/>
          <p:nvPr/>
        </p:nvSpPr>
        <p:spPr>
          <a:xfrm>
            <a:off x="8229600" y="1417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9"/>
          <p:cNvSpPr/>
          <p:nvPr/>
        </p:nvSpPr>
        <p:spPr>
          <a:xfrm>
            <a:off x="8412480" y="1572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Pixel ratio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1920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0.01148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2560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2"/>
          <p:cNvSpPr/>
          <p:nvPr/>
        </p:nvSpPr>
        <p:spPr>
          <a:xfrm>
            <a:off x="8229600" y="256032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3"/>
          <p:cNvSpPr/>
          <p:nvPr/>
        </p:nvSpPr>
        <p:spPr>
          <a:xfrm>
            <a:off x="8412480" y="2715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SSIM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0632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0.98693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0" y="3703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Shape 16"/>
          <p:cNvSpPr/>
          <p:nvPr/>
        </p:nvSpPr>
        <p:spPr>
          <a:xfrm>
            <a:off x="8229600" y="3703320"/>
            <a:ext cx="64008" cy="9601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7"/>
          <p:cNvSpPr/>
          <p:nvPr/>
        </p:nvSpPr>
        <p:spPr>
          <a:xfrm>
            <a:off x="8412480" y="385876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BBox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42062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/>
              </a:rPr>
              <a:t>[285, 237, 567, 297]</a:t>
            </a:r>
            <a:endParaRPr lang="en-US" sz="1250" dirty="0"/>
          </a:p>
        </p:txBody>
      </p:sp>
      <p:sp>
        <p:nvSpPr>
          <p:cNvPr id="2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43</a:t>
            </a:r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VLM COMO TRIADOR VISUAL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371600"/>
            <a:ext cx="6263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"change_type": "button_shift",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"severity": "low",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"affected_region": "[285, 237, 567, 297]",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"evidence": [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"Visible button shift from baseline to current image: the blue 'Finalizar compra' button in baseline (image 1) is positioned differently in current (image 2), with a noticeable horizontal displacement. The metrics confirm this as pixel_change_ratio=0.0114814453125 and SSIM=0.9869284082954217 indicate minimal visual change but detectable shift in button position."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],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"recommendation": "review"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26680" y="173736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Qwen3-VL recebeu baseline/current/diff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Saída estruturada por schema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recommendation=review, não decisão final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44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PROMPT MULTIMODAL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371600"/>
            <a:ext cx="6263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"change_type": "button_shift",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"severity": "low",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"affected_region": "[285, 237, 567, 297]",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"evidence": [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"Visible button shift from baseline to current image: the blue 'Finalizar compra' button in baseline (image 1) is positioned differently in current (image 2), with a noticeable horizontal displacement. The metrics confirm this as pixel_change_ratio=0.0114814453125 and SSIM=0.9869284082954217 indicate minimal visual change but detectable shift in button position."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],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"recommendation": "review"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26680" y="173736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Qwen3-VL recebeu baseline/current/diff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Saída estruturada por schema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recommendation=review, não decisão final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45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TRIAGEM ESTRUTURADA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371600"/>
            <a:ext cx="6263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"change_type": "button_shift",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"severity": "low",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"affected_region": "[285, 237, 567, 297]",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"evidence": [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"Visible button shift from baseline to current image: the blue 'Finalizar compra' button in baseline (image 1) is positioned differently in current (image 2), with a noticeable horizontal displacement. The metrics confirm this as pixel_change_ratio=0.0114814453125 and SSIM=0.9869284082954217 indicate minimal visual change but detectable shift in button position."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],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"recommendation": "review"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26680" y="173736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Qwen3-VL recebeu baseline/current/diff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Saída estruturada por schema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recommendation=review, não decisão final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46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QUE O VLM NÃO DECIDE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371600"/>
            <a:ext cx="6263640" cy="4572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"change_type": "button_shift",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"severity": "low",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"affected_region": "[285, 237, 567, 297]",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"evidence": [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"Visible button shift from baseline to current image: the blue 'Finalizar compra' button in baseline (image 1) is positioned differently in current (image 2), with a noticeable horizontal displacement. The metrics confirm this as pixel_change_ratio=0.0114814453125 and SSIM=0.9869284082954217 indicate minimal visual change but detectable shift in button position."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],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"recommendation": "review"</a:t>
            </a:r>
            <a:endParaRPr lang="en-US" sz="102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26680" y="173736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Qwen3-VL recebeu baseline/current/diff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Saída estruturada por schema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recommendation=review, não decisão final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47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POLÍTICAS VISUAIS: ACCEPT/REVIEW/BLOCK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68580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86868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Ideia central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Browser real gera screenshots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443484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461772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Engenharia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Comparação visual mede diferença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818388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836676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Limite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VLM classifica sem decidir release sozinho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Conecte este conceito ao artefato executado antes de avançar.</a:t>
            </a:r>
            <a:endParaRPr lang="en-US" sz="1800" dirty="0"/>
          </a:p>
        </p:txBody>
      </p:sp>
      <p:sp>
        <p:nvSpPr>
          <p:cNvPr id="2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48</a:t>
            </a:r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CONTEÚDO DINÂMICO E MÁSCARAS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Browser real gera screenshots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Comparação visual mede diferença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VLM classifica sem decidir release sozinho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baseline/current/diff → triagem</a:t>
            </a:r>
            <a:endParaRPr lang="en-US" sz="1300" dirty="0"/>
          </a:p>
        </p:txBody>
      </p:sp>
      <p:sp>
        <p:nvSpPr>
          <p:cNvPr id="16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49</a:t>
            </a:r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FALSE POSITIVES E FALSE NEGATIVES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Sequência lógica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baseline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cenário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current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Shape 20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 21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diff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Shape 24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 25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VLM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Shape 28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Text 29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policy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Browser real gera screenshots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Comparação visual mede diferença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VLM classifica sem decidir release sozinho</a:t>
            </a:r>
            <a:endParaRPr lang="en-US" sz="1600" dirty="0"/>
          </a:p>
        </p:txBody>
      </p:sp>
      <p:sp>
        <p:nvSpPr>
          <p:cNvPr id="35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50</a:t>
            </a:r>
          </a:p>
        </p:txBody>
      </p:sp>
      <p:sp>
        <p:nvSpPr>
          <p:cNvPr id="3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BASELINE POLLUTION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Browser real gera screenshots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Comparação visual mede diferença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VLM classifica sem decidir release sozinho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imagem != bug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score != correção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triagem != policy</a:t>
            </a:r>
            <a:endParaRPr lang="en-US" sz="15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51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EXERCÍCIO MENTORADO DIA 2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585216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Caso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585216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6016752" y="1481328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Decisão esperada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066544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CTA desaparecido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6016752" y="2066544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block/review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651760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timestamp dinâmico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016752" y="2651760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mask/accept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236976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mudança de cor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6016752" y="3236976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depende do componente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822192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layout shift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6016752" y="3822192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review com evidência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572000"/>
            <a:ext cx="978408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Cada grupo define métrica, região, política e evidência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VLM ajuda na triagem; grupo defende a política</a:t>
            </a:r>
            <a:endParaRPr lang="en-US" sz="1600" dirty="0"/>
          </a:p>
        </p:txBody>
      </p:sp>
      <p:sp>
        <p:nvSpPr>
          <p:cNvPr id="31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52</a:t>
            </a:r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RUBRICA VISUAL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585216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Caso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585216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6016752" y="1481328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Decisão esperada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066544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CTA desaparecido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6016752" y="2066544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block/review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651760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timestamp dinâmico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016752" y="2651760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mask/accept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236976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mudança de cor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6016752" y="3236976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depende do componente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822192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layout shift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6016752" y="3822192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review com evidência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572000"/>
            <a:ext cx="978408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Cada grupo define métrica, região, política e evidência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VLM ajuda na triagem; grupo defende a política</a:t>
            </a:r>
            <a:endParaRPr lang="en-US" sz="1600" dirty="0"/>
          </a:p>
        </p:txBody>
      </p:sp>
      <p:sp>
        <p:nvSpPr>
          <p:cNvPr id="31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53</a:t>
            </a:r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FECHAMENTO DIA 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Sequência lógica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baseline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cenário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current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Shape 20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 21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diff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Shape 24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 25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VLM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noFill/>
            <a:prstDash val="solid"/>
            <a:headEnd type="none"/>
            <a:tailEnd type="triangle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Shape 28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Text 29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policy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Browser real gera screenshots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Comparação visual mede diferença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VLM classifica sem decidir release sozinho</a:t>
            </a:r>
            <a:endParaRPr lang="en-US" sz="1600" dirty="0"/>
          </a:p>
        </p:txBody>
      </p:sp>
      <p:sp>
        <p:nvSpPr>
          <p:cNvPr id="35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54</a:t>
            </a:r>
          </a:p>
        </p:txBody>
      </p:sp>
      <p:sp>
        <p:nvSpPr>
          <p:cNvPr id="3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3: ASSISTENTE SRE INTELIGENTE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ASSISTENTE SRE INTELIGENTE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Investigação com métricas, traces e ferramentas read-only — sem receber o nome do cenário.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92440" y="1645920"/>
            <a:ext cx="3154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8092440" y="1645920"/>
            <a:ext cx="64008" cy="274320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8275320" y="180136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Evidência final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2148840"/>
            <a:ext cx="2834640" cy="21488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payment.request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253758 µs</a:t>
            </a:r>
            <a:endParaRPr lang="en-US" sz="14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requires_human=true</a:t>
            </a:r>
            <a:endParaRPr lang="en-US" sz="1400" dirty="0"/>
          </a:p>
        </p:txBody>
      </p:sp>
      <p:sp>
        <p:nvSpPr>
          <p:cNvPr id="16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55</a:t>
            </a:r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 PROBLEMA: INVESTIGAR SEM INVENTAR RCA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68580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86868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Ideia central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Agente recebe sintoma, não cenário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443484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461772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Engenharia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Tool calls read-only coletam evidência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8183880" y="1371600"/>
            <a:ext cx="64008" cy="21945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8366760" y="1527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Limite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187452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Conclusão é causa provável com confiança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Conecte este conceito ao artefato executado antes de avançar.</a:t>
            </a:r>
            <a:endParaRPr lang="en-US" sz="1800" dirty="0"/>
          </a:p>
        </p:txBody>
      </p:sp>
      <p:sp>
        <p:nvSpPr>
          <p:cNvPr id="2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56</a:t>
            </a:r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DEFINIÇÃO CANÔNICA: OBSERVABILIDADE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Definição vem depois da evidência executada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Vocabulário técnico nomeia o que o aluno já viu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definição fecha com limite operacional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Prometheus/Jaeger → investigation_result</a:t>
            </a:r>
            <a:endParaRPr lang="en-US" sz="1300" dirty="0"/>
          </a:p>
        </p:txBody>
      </p:sp>
      <p:sp>
        <p:nvSpPr>
          <p:cNvPr id="16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57</a:t>
            </a:r>
          </a:p>
        </p:txBody>
      </p:sp>
      <p:sp>
        <p:nvSpPr>
          <p:cNvPr id="17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MÉTRICAS, LOGS E TRACES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Sinal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6016752" y="1481328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Função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103120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Métricas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6016752" y="2103120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tendência e magnitude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724912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Logs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016752" y="2724912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evento textual e detalhe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346704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Traces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6016752" y="3346704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caminho e duração por request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968496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SLO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6016752" y="3968496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limite operacional aceitável</a:t>
            </a:r>
            <a:endParaRPr lang="en-US" sz="1150" dirty="0"/>
          </a:p>
        </p:txBody>
      </p:sp>
      <p:sp>
        <p:nvSpPr>
          <p:cNvPr id="30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58</a:t>
            </a:r>
          </a:p>
        </p:txBody>
      </p:sp>
      <p:sp>
        <p:nvSpPr>
          <p:cNvPr id="31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RED E USE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Sinal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6016752" y="1481328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Função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103120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Métricas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6016752" y="2103120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tendência e magnitude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724912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Logs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016752" y="2724912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evento textual e detalhe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346704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Traces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6016752" y="3346704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caminho e duração por request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968496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SLO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6016752" y="3968496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limite operacional aceitável</a:t>
            </a:r>
            <a:endParaRPr lang="en-US" sz="1150" dirty="0"/>
          </a:p>
        </p:txBody>
      </p:sp>
      <p:sp>
        <p:nvSpPr>
          <p:cNvPr id="30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59</a:t>
            </a:r>
          </a:p>
        </p:txBody>
      </p:sp>
      <p:sp>
        <p:nvSpPr>
          <p:cNvPr id="31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SLI, SLO E ERROR BUDGET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Sinal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6016752" y="1481328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Função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103120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Métricas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6016752" y="2103120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tendência e magnitude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724912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Logs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016752" y="2724912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evento textual e detalhe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346704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Traces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6016752" y="3346704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caminho e duração por request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968496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SLO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6016752" y="3968496"/>
            <a:ext cx="502005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limite operacional aceitável</a:t>
            </a:r>
            <a:endParaRPr lang="en-US" sz="1150" dirty="0"/>
          </a:p>
        </p:txBody>
      </p:sp>
      <p:sp>
        <p:nvSpPr>
          <p:cNvPr id="30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60</a:t>
            </a:r>
          </a:p>
        </p:txBody>
      </p:sp>
      <p:sp>
        <p:nvSpPr>
          <p:cNvPr id="31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FALHA REAL: PAYMENT_LATENCY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64008" cy="11887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Normal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443484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payment ≈ 0.002638 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288036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777240" y="2880360"/>
            <a:ext cx="64008" cy="118872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960120" y="303580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Cenário ativo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383280"/>
            <a:ext cx="443484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payment_latency ≈ 0.257617 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0760" y="1691640"/>
            <a:ext cx="448056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falha é real na aplicação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evidência aparece em métricas e traces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O agente recebe sintoma, não cenário</a:t>
            </a:r>
            <a:endParaRPr lang="en-US" sz="1600" dirty="0"/>
          </a:p>
        </p:txBody>
      </p:sp>
      <p:sp>
        <p:nvSpPr>
          <p:cNvPr id="19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61</a:t>
            </a:r>
          </a:p>
        </p:txBody>
      </p:sp>
      <p:sp>
        <p:nvSpPr>
          <p:cNvPr id="20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MÉTRICA REAL EXPOSTA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21792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554480"/>
            <a:ext cx="5897880" cy="21031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releaseguard_dependency_duration_seconds_sum{dependency="payment_provider"}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→ 0.25361775000055786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releaseguard target: 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0920" y="1691640"/>
            <a:ext cx="347472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Prometheus consulta evidência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query não contém a resposta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Labels conectam dependência e janela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62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PROMETHEUS COMO FONTE DE EVIDÊNCIA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21792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554480"/>
            <a:ext cx="5897880" cy="21031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releaseguard_dependency_duration_seconds_sum{dependency="payment_provider"}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→ 0.25361775000055786</a:t>
            </a: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5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releaseguard target: 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0920" y="1691640"/>
            <a:ext cx="347472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Prometheus consulta evidência real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 query não contém a resposta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Labels conectam dependência e janela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63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OPENTELEMETRY NO FASTAPI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85800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04672" y="1554480"/>
            <a:ext cx="6537960" cy="2834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configure_tracing():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global _configured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_configured: return trace.get_tracer('releaseguard')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provider=TracerProvider(resource=Resource.create({'service.name':'releaseguard'})); trace.set_tracer_provider(provider)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endpoint=os.getenv('OTEL_EXPORTER_OTLP_ENDPOINT')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endpoint: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from opentelemetry.exporter.otlp.proto.http.trace_exporter import OTLPSpanExporter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    provider.add_span_processor(BatchSpanProcessor(OTLPSpanExporter(endpoint=endpoint.rstrip('/')+'/v1/traces')))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_configured=True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return trace.get_tracer('releaseguard')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164592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Resource define service.name=releaseguard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Exporter OTLP envia para Jaeger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Spans customizados carregam atributos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64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JAEGER E TRACES DISTRIBUÍDOS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Jaeger service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releaseguard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274320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777240" y="274320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960120" y="289864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Span normal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24612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payment.request ≈ 865 µs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777240" y="406908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960120" y="422452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Span degradado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57200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payment.request ≈ 253758 µs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438912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Trace individualiza a requisição lenta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Span mostra a dependência provável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Ainda não é causa verificada absoluta</a:t>
            </a:r>
            <a:endParaRPr lang="en-US" sz="1600" dirty="0"/>
          </a:p>
        </p:txBody>
      </p:sp>
      <p:sp>
        <p:nvSpPr>
          <p:cNvPr id="2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65</a:t>
            </a:r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SPAN PAYMENT.REQUEST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Jaeger service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releaseguard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274320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777240" y="274320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960120" y="289864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Span normal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24612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payment.request ≈ 865 µs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777240" y="4069080"/>
            <a:ext cx="64008" cy="100584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960120" y="422452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Span degradado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57200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payment.request ≈ 253758 µs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438912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Trace individualiza a requisição lenta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Span mostra a dependência provável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Ainda não é causa verificada absoluta</a:t>
            </a:r>
            <a:endParaRPr lang="en-US" sz="1600" dirty="0"/>
          </a:p>
        </p:txBody>
      </p:sp>
      <p:sp>
        <p:nvSpPr>
          <p:cNvPr id="2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66</a:t>
            </a:r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HIPÓTESE ANTES DA TOOL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Agente recebe sintoma, não cenário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Tool calls read-only coletam evidência</a:t>
            </a:r>
            <a:endParaRPr lang="en-US" sz="1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Conclusão é causa provável com confiança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sintoma != causa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trace != RCA</a:t>
            </a:r>
            <a:endParaRPr lang="en-US" sz="15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Aptos Mono" pitchFamily="34" charset="-122"/>
                <a:cs typeface="Aptos Mono" pitchFamily="34" charset="-120"/>
              </a:rPr>
              <a:t>mitigação != execução</a:t>
            </a:r>
            <a:endParaRPr lang="en-US" sz="15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67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TOOL CALLING SRE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758952" y="1554480"/>
            <a:ext cx="6446520" cy="32918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TOOL_SPECS = [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query_metrics(query)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list_trace_services()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query_traces(service)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get_service_health()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get_recent_changes()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execute(name, args, urls):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# allowlist: nenhuma tool mutável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if name == 'query_metrics': ...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if name == 'query_traces': ...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raise ValueError('tool not allowlisted')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Tools read-only: métricas, traces, health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Agente registra tool calls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Input não contém scenario=payment_latency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68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TOOLS READ-ONLY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758952" y="1554480"/>
            <a:ext cx="6446520" cy="32918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TOOL_SPECS = [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query_metrics(query)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list_trace_services()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query_traces(service)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get_service_health()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get_recent_changes()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execute(name, args, urls):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# allowlist: nenhuma tool mutável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if name == 'query_metrics': ...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if name == 'query_traces': ...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raise ValueError('tool not allowlisted')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Tools read-only: métricas, traces, health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Agente registra tool calls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Input não contém scenario=payment_latency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69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REGISTRO DE TOOL CALLS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758952" y="1554480"/>
            <a:ext cx="6446520" cy="32918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TOOL_SPECS = [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query_metrics(query)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list_trace_services()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query_traces(service)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get_service_health()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get_recent_changes()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execute(name, args, urls):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# allowlist: nenhuma tool mutável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if name == 'query_metrics': ...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if name == 'query_traces': ...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raise ValueError('tool not allowlisted')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Tools read-only: métricas, traces, health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Agente registra tool calls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Input não contém scenario=payment_latency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70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INVESTIGAÇÃO SEM SCENARIO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758952" y="1554480"/>
            <a:ext cx="6446520" cy="32918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TOOL_SPECS = [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query_metrics(query)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list_trace_services()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query_traces(service)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get_service_health()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get_recent_changes()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execute(name, args, urls):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# allowlist: nenhuma tool mutável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if name == 'query_metrics': ...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if name == 'query_traces': ...</a:t>
            </a:r>
            <a:endParaRPr lang="en-US" sz="135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019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raise ValueError('tool not allowlisted')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Tools read-only: métricas, traces, health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Agente registra tool calls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Input não contém scenario=payment_latency</a:t>
            </a:r>
            <a:endParaRPr lang="en-US" sz="1600" dirty="0"/>
          </a:p>
        </p:txBody>
      </p:sp>
      <p:sp>
        <p:nvSpPr>
          <p:cNvPr id="1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71</a:t>
            </a:r>
          </a:p>
        </p:txBody>
      </p:sp>
      <p:sp>
        <p:nvSpPr>
          <p:cNvPr id="1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CAUSA PROVÁVEL VS VERIFICADA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2064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Afirmação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97880" y="1417320"/>
            <a:ext cx="512064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5971032" y="1481328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Nível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103120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latência aumentou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9788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5971032" y="2103120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observação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724912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 span domina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9788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5971032" y="2724912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correlação forte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346704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 é causa provável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5971032" y="3346704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inferência com evidência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968496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reiniciar provider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5971032" y="3968496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ação com HITL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RCA definitiva exige mais evidência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Ação mutável fica fora do agente autônomo</a:t>
            </a:r>
            <a:endParaRPr lang="en-US" sz="1600" dirty="0"/>
          </a:p>
        </p:txBody>
      </p:sp>
      <p:sp>
        <p:nvSpPr>
          <p:cNvPr id="31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72</a:t>
            </a:r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AUTONOMIA POR RISCO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2064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Afirmação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97880" y="1417320"/>
            <a:ext cx="512064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5971032" y="1481328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Nível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103120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latência aumentou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9788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5971032" y="2103120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observação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724912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 span domina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9788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5971032" y="2724912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correlação forte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346704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 é causa provável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5971032" y="3346704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inferência com evidência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968496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reiniciar provider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5971032" y="3968496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ação com HITL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RCA definitiva exige mais evidência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Ação mutável fica fora do agente autônomo</a:t>
            </a:r>
            <a:endParaRPr lang="en-US" sz="1600" dirty="0"/>
          </a:p>
        </p:txBody>
      </p:sp>
      <p:sp>
        <p:nvSpPr>
          <p:cNvPr id="31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73</a:t>
            </a:r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HUMAN-IN-THE-LOOP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2064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Afirmação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97880" y="1417320"/>
            <a:ext cx="5120640" cy="621792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5971032" y="1481328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Nível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103120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latência aumentou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9788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5971032" y="2103120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observação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724912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 span domina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9788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5971032" y="2724912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correlação forte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346704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 é causa provável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5971032" y="3346704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inferência com evidência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968496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reiniciar provider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5971032" y="3968496"/>
            <a:ext cx="4974336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ação com HITL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RCA definitiva exige mais evidência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Ação mutável fica fora do agente autônomo</a:t>
            </a:r>
            <a:endParaRPr lang="en-US" sz="1600" dirty="0"/>
          </a:p>
        </p:txBody>
      </p:sp>
      <p:sp>
        <p:nvSpPr>
          <p:cNvPr id="31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74</a:t>
            </a:r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SRE AGENT OUTPUT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64008" cy="10972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 9"/>
          <p:cNvSpPr/>
          <p:nvPr/>
        </p:nvSpPr>
        <p:spPr>
          <a:xfrm>
            <a:off x="914400" y="1572768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Evidência: métrica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payment_provider = 0.2536 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64008" cy="10972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 13"/>
          <p:cNvSpPr/>
          <p:nvPr/>
        </p:nvSpPr>
        <p:spPr>
          <a:xfrm>
            <a:off x="914400" y="2898648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Evidência: trace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24612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payment.request = 253758 µs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64008" cy="10972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 17"/>
          <p:cNvSpPr/>
          <p:nvPr/>
        </p:nvSpPr>
        <p:spPr>
          <a:xfrm>
            <a:off x="914400" y="4224528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Resultado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confidence=0.85 · active_incident=true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448056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Causa provável, não verificada absoluta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Sem unsupported_claims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requires_human=true para mitigação</a:t>
            </a:r>
            <a:endParaRPr lang="en-US" sz="1600" dirty="0"/>
          </a:p>
        </p:txBody>
      </p:sp>
      <p:sp>
        <p:nvSpPr>
          <p:cNvPr id="23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75</a:t>
            </a:r>
          </a:p>
        </p:txBody>
      </p:sp>
      <p:sp>
        <p:nvSpPr>
          <p:cNvPr id="24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RELEASE POLICY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12648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554480"/>
            <a:ext cx="5806440" cy="2834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decide(functional:dict, visual:dict, sre:dict|None=None)-&gt;ReleaseDecision: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reasons=[]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not functional.get('passed',False): reasons.append('functional critical test failed')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triage=visual.get('triage') or {}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triage.get('recommendation')=='block': reasons.append('visual regression classified as block')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visual.get('policy')=='block': reasons.append('visual policy gate failed')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sre and sre.get('active_incident',False): reasons.append('active SLO-impacting incident')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reasons: return ReleaseDecision('BLOCK',reasons)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triage.get('recommendation')=='review' or visual.get('policy')=='review': return ReleaseDecision('REVIEW',['visual evidence requires human review'])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return ReleaseDecision('PASS',[])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1508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7360920" y="150876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7543800" y="1664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Functional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3800" y="2011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passed=true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60920" y="2651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Shape 14"/>
          <p:cNvSpPr/>
          <p:nvPr/>
        </p:nvSpPr>
        <p:spPr>
          <a:xfrm>
            <a:off x="7360920" y="265176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 15"/>
          <p:cNvSpPr/>
          <p:nvPr/>
        </p:nvSpPr>
        <p:spPr>
          <a:xfrm>
            <a:off x="7543800" y="2807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Visual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3154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policy=review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60920" y="3794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Shape 18"/>
          <p:cNvSpPr/>
          <p:nvPr/>
        </p:nvSpPr>
        <p:spPr>
          <a:xfrm>
            <a:off x="7360920" y="379476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 19"/>
          <p:cNvSpPr/>
          <p:nvPr/>
        </p:nvSpPr>
        <p:spPr>
          <a:xfrm>
            <a:off x="7543800" y="3950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3800" y="4297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active incident → BLOCK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50749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Decisão final validada: BLOCK</a:t>
            </a:r>
            <a:endParaRPr lang="en-US" sz="1800" dirty="0"/>
          </a:p>
        </p:txBody>
      </p:sp>
      <p:sp>
        <p:nvSpPr>
          <p:cNvPr id="25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76</a:t>
            </a:r>
          </a:p>
        </p:txBody>
      </p:sp>
      <p:sp>
        <p:nvSpPr>
          <p:cNvPr id="2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RELATÓRIO INTEGRADO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12648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554480"/>
            <a:ext cx="5806440" cy="2834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decide(functional:dict, visual:dict, sre:dict|None=None)-&gt;ReleaseDecision: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reasons=[]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not functional.get('passed',False): reasons.append('functional critical test failed')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triage=visual.get('triage') or {}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triage.get('recommendation')=='block': reasons.append('visual regression classified as block')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visual.get('policy')=='block': reasons.append('visual policy gate failed')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sre and sre.get('active_incident',False): reasons.append('active SLO-impacting incident')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reasons: return ReleaseDecision('BLOCK',reasons)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triage.get('recommendation')=='review' or visual.get('policy')=='review': return ReleaseDecision('REVIEW',['visual evidence requires human review'])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return ReleaseDecision('PASS',[])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1508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7360920" y="150876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7543800" y="1664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Functional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3800" y="2011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passed=true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60920" y="2651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Shape 14"/>
          <p:cNvSpPr/>
          <p:nvPr/>
        </p:nvSpPr>
        <p:spPr>
          <a:xfrm>
            <a:off x="7360920" y="265176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 15"/>
          <p:cNvSpPr/>
          <p:nvPr/>
        </p:nvSpPr>
        <p:spPr>
          <a:xfrm>
            <a:off x="7543800" y="2807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Visual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3154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policy=review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60920" y="3794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Shape 18"/>
          <p:cNvSpPr/>
          <p:nvPr/>
        </p:nvSpPr>
        <p:spPr>
          <a:xfrm>
            <a:off x="7360920" y="379476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 19"/>
          <p:cNvSpPr/>
          <p:nvPr/>
        </p:nvSpPr>
        <p:spPr>
          <a:xfrm>
            <a:off x="7543800" y="3950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3800" y="4297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active incident → BLOCK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50749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Decisão final validada: BLOCK</a:t>
            </a:r>
            <a:endParaRPr lang="en-US" sz="1800" dirty="0"/>
          </a:p>
        </p:txBody>
      </p:sp>
      <p:sp>
        <p:nvSpPr>
          <p:cNvPr id="25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77</a:t>
            </a:r>
          </a:p>
        </p:txBody>
      </p:sp>
      <p:sp>
        <p:nvSpPr>
          <p:cNvPr id="2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DECISÃO PASS/REVIEW/BLOCK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12648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554480"/>
            <a:ext cx="5806440" cy="2834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ctr">
            <a:normAutofit/>
          </a:bodyPr>
          <a:lstStyle/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def decide(functional:dict, visual:dict, sre:dict|None=None)-&gt;ReleaseDecision: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reasons=[]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not functional.get('passed',False): reasons.append('functional critical test failed')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triage=visual.get('triage') or {}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triage.get('recommendation')=='block': reasons.append('visual regression classified as block')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visual.get('policy')=='block': reasons.append('visual policy gate failed')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sre and sre.get('active_incident',False): reasons.append('active SLO-impacting incident')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reasons: return ReleaseDecision('BLOCK',reasons)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if triage.get('recommendation')=='review' or visual.get('policy')=='review': return ReleaseDecision('REVIEW',['visual evidence requires human review'])</a:t>
            </a:r>
            <a:endParaRPr lang="en-US" sz="1400" dirty="0"/>
          </a:p>
          <a:p>
            <a:pPr indent="0" mar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940" dirty="0">
                <a:solidFill>
                  <a:srgbClr val="FFFFFF"/>
                </a:solidFill>
                <a:latin typeface="Roboto Mono" pitchFamily="34" charset="0"/>
                <a:ea typeface="Aptos Mono" pitchFamily="34" charset="-122"/>
                <a:cs typeface="Aptos Mono" pitchFamily="34" charset="-120"/>
              </a:rPr>
              <a:t>    return ReleaseDecision('PASS',[])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1508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Shape 10"/>
          <p:cNvSpPr/>
          <p:nvPr/>
        </p:nvSpPr>
        <p:spPr>
          <a:xfrm>
            <a:off x="7360920" y="150876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 11"/>
          <p:cNvSpPr/>
          <p:nvPr/>
        </p:nvSpPr>
        <p:spPr>
          <a:xfrm>
            <a:off x="7543800" y="1664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Functional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3800" y="2011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passed=true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60920" y="2651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Shape 14"/>
          <p:cNvSpPr/>
          <p:nvPr/>
        </p:nvSpPr>
        <p:spPr>
          <a:xfrm>
            <a:off x="7360920" y="265176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 15"/>
          <p:cNvSpPr/>
          <p:nvPr/>
        </p:nvSpPr>
        <p:spPr>
          <a:xfrm>
            <a:off x="7543800" y="2807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Visual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3154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policy=review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60920" y="3794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Shape 18"/>
          <p:cNvSpPr/>
          <p:nvPr/>
        </p:nvSpPr>
        <p:spPr>
          <a:xfrm>
            <a:off x="7360920" y="3794760"/>
            <a:ext cx="64008" cy="868680"/>
          </a:xfrm>
          <a:prstGeom prst="rect">
            <a:avLst/>
          </a:prstGeom>
          <a:solidFill>
            <a:srgbClr val="6FBF48"/>
          </a:solidFill>
          <a:ln w="1270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 19"/>
          <p:cNvSpPr/>
          <p:nvPr/>
        </p:nvSpPr>
        <p:spPr>
          <a:xfrm>
            <a:off x="7543800" y="3950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SRE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3800" y="4297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active incident → BLOCK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50749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b="1" dirty="0">
                <a:solidFill>
                  <a:srgbClr val="FFFFFF"/>
                </a:solidFill>
                <a:latin typeface="Roboto"/>
              </a:rPr>
              <a:t>Decisão final validada: BLOCK</a:t>
            </a:r>
            <a:endParaRPr lang="en-US" sz="1800" dirty="0"/>
          </a:p>
        </p:txBody>
      </p:sp>
      <p:sp>
        <p:nvSpPr>
          <p:cNvPr id="25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78</a:t>
            </a:r>
          </a:p>
        </p:txBody>
      </p:sp>
      <p:sp>
        <p:nvSpPr>
          <p:cNvPr id="26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EXERCÍCIO MENTORADO DIA 3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585216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Incidente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585216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6016752" y="1481328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Evidência principal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066544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payment latency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6016752" y="2066544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trace + metric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651760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inventory 500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016752" y="2651760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logs/errors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236976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external timeout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6016752" y="3236976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dependency trace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822192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saturation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6016752" y="3822192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resource metric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Apresentação deve defender evidências antes da causa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Rubrica penaliza hallucination e ação sem HITL</a:t>
            </a:r>
            <a:endParaRPr lang="en-US" sz="1600" dirty="0"/>
          </a:p>
        </p:txBody>
      </p:sp>
      <p:sp>
        <p:nvSpPr>
          <p:cNvPr id="31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79</a:t>
            </a:r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CHECKLIST DE PRODUÇÃO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585216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Incidente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585216"/>
          </a:xfrm>
          <a:prstGeom prst="rect">
            <a:avLst/>
          </a:prstGeom>
          <a:solidFill>
            <a:srgbClr val="6FBF48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6016752" y="1481328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Evidência principal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 12"/>
          <p:cNvSpPr/>
          <p:nvPr/>
        </p:nvSpPr>
        <p:spPr>
          <a:xfrm>
            <a:off x="850392" y="2066544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payment latency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 14"/>
          <p:cNvSpPr/>
          <p:nvPr/>
        </p:nvSpPr>
        <p:spPr>
          <a:xfrm>
            <a:off x="6016752" y="2066544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dirty="0" b="1">
                <a:solidFill>
                  <a:srgbClr val="6FBF48"/>
                </a:solidFill>
                <a:latin typeface="Roboto"/>
              </a:rPr>
              <a:t>trace + metric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 16"/>
          <p:cNvSpPr/>
          <p:nvPr/>
        </p:nvSpPr>
        <p:spPr>
          <a:xfrm>
            <a:off x="850392" y="2651760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inventory 500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 18"/>
          <p:cNvSpPr/>
          <p:nvPr/>
        </p:nvSpPr>
        <p:spPr>
          <a:xfrm>
            <a:off x="6016752" y="2651760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logs/errors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20"/>
          <p:cNvSpPr/>
          <p:nvPr/>
        </p:nvSpPr>
        <p:spPr>
          <a:xfrm>
            <a:off x="850392" y="3236976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external timeout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 22"/>
          <p:cNvSpPr/>
          <p:nvPr/>
        </p:nvSpPr>
        <p:spPr>
          <a:xfrm>
            <a:off x="6016752" y="3236976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dependency trace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 24"/>
          <p:cNvSpPr/>
          <p:nvPr/>
        </p:nvSpPr>
        <p:spPr>
          <a:xfrm>
            <a:off x="850392" y="3822192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saturation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noFill/>
            <a:prstDash val="solid"/>
          </a:ln>
        </p:spPr>
        <p:txBody>
          <a:bodyPr wrap="square"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 26"/>
          <p:cNvSpPr/>
          <p:nvPr/>
        </p:nvSpPr>
        <p:spPr>
          <a:xfrm>
            <a:off x="6016752" y="3822192"/>
            <a:ext cx="5020056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resource metric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Apresentação deve defender evidências antes da causa</a:t>
            </a:r>
            <a:endParaRPr lang="en-US" sz="1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450" dirty="0">
                <a:solidFill>
                  <a:srgbClr val="FFFFFF"/>
                </a:solidFill>
                <a:latin typeface="Roboto"/>
              </a:rPr>
              <a:t>• Rubrica penaliza hallucination e ação sem HITL</a:t>
            </a:r>
            <a:endParaRPr lang="en-US" sz="1600" dirty="0"/>
          </a:p>
        </p:txBody>
      </p:sp>
      <p:sp>
        <p:nvSpPr>
          <p:cNvPr id="31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80</a:t>
            </a:r>
          </a:p>
        </p:txBody>
      </p:sp>
      <p:sp>
        <p:nvSpPr>
          <p:cNvPr id="32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emplate_bg_dark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300" b="1" dirty="0">
                <a:solidFill>
                  <a:srgbClr val="6FBF48"/>
                </a:solidFill>
                <a:latin typeface="Roboto"/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300" b="1" dirty="0">
                <a:solidFill>
                  <a:srgbClr val="6FBF48"/>
                </a:solidFill>
                <a:latin typeface="Roboto"/>
              </a:rPr>
              <a:t>FECHAMENTO DA SEMANA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2000" b="1" dirty="0">
                <a:solidFill>
                  <a:srgbClr val="6FBF48"/>
                </a:solidFill>
                <a:latin typeface="Roboto"/>
              </a:rPr>
              <a:t>Evidência antes de autonomia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9875520" cy="1828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Dia 1: testes funcionais com oracle defensável</a:t>
            </a:r>
            <a:endParaRPr lang="en-US" sz="18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Dia 2: regressão visual medida e triada</a:t>
            </a:r>
            <a:endParaRPr lang="en-US" sz="18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Dia 3: investigação SRE com métricas e traces reais</a:t>
            </a:r>
            <a:endParaRPr lang="en-US" sz="18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</a:defRPr>
            </a:pPr>
            <a:r>
              <a:rPr lang="en-US" sz="1150" dirty="0">
                <a:solidFill>
                  <a:srgbClr val="FFFFFF"/>
                </a:solidFill>
                <a:latin typeface="Roboto"/>
              </a:rPr>
              <a:t>• Produção: política e aprovação humana para risco</a:t>
            </a:r>
            <a:endParaRPr lang="en-US" sz="1800" dirty="0"/>
          </a:p>
        </p:txBody>
      </p:sp>
      <p:sp>
        <p:nvSpPr>
          <p:cNvPr id="12" name="TEMPLATE_PAGE_center"/>
          <p:cNvSpPr txBox="1"/>
          <p:nvPr/>
        </p:nvSpPr>
        <p:spPr>
          <a:xfrm>
            <a:off x="584438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81</a:t>
            </a:r>
          </a:p>
        </p:txBody>
      </p:sp>
      <p:sp>
        <p:nvSpPr>
          <p:cNvPr id="13" name="TEMPLATE_PAGE_right"/>
          <p:cNvSpPr txBox="1"/>
          <p:nvPr/>
        </p:nvSpPr>
        <p:spPr>
          <a:xfrm>
            <a:off x="11624767" y="66385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Roboto"/>
              </a:rPr>
              <a:t>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xe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LAB365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ReleaseGuard AI — Low-Code para QA e SRE com IA</dc:title>
  <dc:subject>Low-Code para QA e SRE com IA</dc:subject>
  <dc:creator>LAB365 / OpenAI</dc:creator>
  <cp:lastModifiedBy>LAB365 / OpenAI</cp:lastModifiedBy>
  <cp:revision>1</cp:revision>
  <dcterms:created xsi:type="dcterms:W3CDTF">2026-08-17T13:57:28Z</dcterms:created>
  <dcterms:modified xsi:type="dcterms:W3CDTF">2026-08-17T13:57:28Z</dcterms:modified>
</cp:coreProperties>
</file>